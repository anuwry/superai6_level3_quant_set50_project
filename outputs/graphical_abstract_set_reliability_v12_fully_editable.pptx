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7bdb3d74a14993" /><Relationship Type="http://schemas.openxmlformats.org/officeDocument/2006/relationships/extended-properties" Target="/docProps/app.xml" Id="R9b3bf7bc65744b53" /><Relationship Type="http://schemas.openxmlformats.org/officeDocument/2006/relationships/officeDocument" Target="/ppt/presentation.xml" Id="R316d69743b4245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3b45ae15db42da"/>
  </p:sldMasterIdLst>
  <p:notesMasterIdLst>
    <p:notesMasterId xmlns:r="http://schemas.openxmlformats.org/officeDocument/2006/relationships" r:id="R9839cff8af6b4640"/>
  </p:notesMasterIdLst>
  <p:sldIdLst>
    <p:sldId xmlns:r="http://schemas.openxmlformats.org/officeDocument/2006/relationships" id="256" r:id="R1b4b013936364f02"/>
  </p:sldIdLst>
  <p:sldSz cx="22860000" cy="9144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c1b50bf0474aab" /><Relationship Type="http://schemas.openxmlformats.org/officeDocument/2006/relationships/slideMaster" Target="/ppt/slideMasters/slideMaster1.xml" Id="Rb43b45ae15db42da" /><Relationship Type="http://schemas.openxmlformats.org/officeDocument/2006/relationships/notesMaster" Target="/ppt/notesMasters/notesMaster1.xml" Id="R9839cff8af6b4640" /><Relationship Type="http://schemas.openxmlformats.org/officeDocument/2006/relationships/presProps" Target="/ppt/presProps.xml" Id="Reb7b4667422945ae" /><Relationship Type="http://schemas.openxmlformats.org/officeDocument/2006/relationships/tableStyles" Target="/ppt/tableStyles.xml" Id="R2adcbe26cb7340f1" /><Relationship Type="http://schemas.openxmlformats.org/officeDocument/2006/relationships/slide" Target="/ppt/slides/slide1.xml" Id="R1b4b013936364f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b243f44eeb47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238226a0704921" /><Relationship Type="http://schemas.openxmlformats.org/officeDocument/2006/relationships/notesMaster" Target="/ppt/notesMasters/notesMaster1.xml" Id="Rf2c9fdf2d64946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ea4736d15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e89194ea134322" /><Relationship Type="http://schemas.openxmlformats.org/officeDocument/2006/relationships/slideLayout" Target="/ppt/slideLayouts/slideLayout1.xml" Id="Rf8942779e1ae46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942779e1ae46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a955891f545f0" /><Relationship Type="http://schemas.openxmlformats.org/officeDocument/2006/relationships/chart" Target="/ppt/slides/charts/chart1.xml" Id="Rac4870bc735f4c97" /><Relationship Type="http://schemas.openxmlformats.org/officeDocument/2006/relationships/notesSlide" Target="/ppt/notesSlides/notesSlide1.xml" Id="Ra711270d0653440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SET50 close</c:v>
          </c:tx>
          <c:spPr>
            <a:ln xmlns:a="http://schemas.openxmlformats.org/drawingml/2006/main" w="15240">
              <a:solidFill>
                <a:srgbClr val="111111"/>
              </a:solidFill>
              <a:prstDash val="solid"/>
            </a:ln>
          </c:spPr>
          <c:marker>
            <c:symbol val="none"/>
            <c:size val="1"/>
          </c:marker>
          <c:dLbls/>
          <c:cat>
            <c:strLit>
              <c:ptCount val="168"/>
              <c:pt idx="0">
                <c:v>2012-01</c:v>
              </c:pt>
              <c:pt idx="1">
                <c:v>2012-02</c:v>
              </c:pt>
              <c:pt idx="2">
                <c:v>2012-03</c:v>
              </c:pt>
              <c:pt idx="3">
                <c:v>2012-04</c:v>
              </c:pt>
              <c:pt idx="4">
                <c:v>2012-05</c:v>
              </c:pt>
              <c:pt idx="5">
                <c:v>2012-06</c:v>
              </c:pt>
              <c:pt idx="6">
                <c:v>2012-07</c:v>
              </c:pt>
              <c:pt idx="7">
                <c:v>2012-08</c:v>
              </c:pt>
              <c:pt idx="8">
                <c:v>2012-09</c:v>
              </c:pt>
              <c:pt idx="9">
                <c:v>2012-10</c:v>
              </c:pt>
              <c:pt idx="10">
                <c:v>2012-11</c:v>
              </c:pt>
              <c:pt idx="11">
                <c:v>2012-12</c:v>
              </c:pt>
              <c:pt idx="12">
                <c:v>2013-01</c:v>
              </c:pt>
              <c:pt idx="13">
                <c:v>2013-02</c:v>
              </c:pt>
              <c:pt idx="14">
                <c:v>2013-03</c:v>
              </c:pt>
              <c:pt idx="15">
                <c:v>2013-04</c:v>
              </c:pt>
              <c:pt idx="16">
                <c:v>2013-05</c:v>
              </c:pt>
              <c:pt idx="17">
                <c:v>2013-06</c:v>
              </c:pt>
              <c:pt idx="18">
                <c:v>2013-07</c:v>
              </c:pt>
              <c:pt idx="19">
                <c:v>2013-08</c:v>
              </c:pt>
              <c:pt idx="20">
                <c:v>2013-09</c:v>
              </c:pt>
              <c:pt idx="21">
                <c:v>2013-10</c:v>
              </c:pt>
              <c:pt idx="22">
                <c:v>2013-11</c:v>
              </c:pt>
              <c:pt idx="23">
                <c:v>2013-12</c:v>
              </c:pt>
              <c:pt idx="24">
                <c:v>2014-01</c:v>
              </c:pt>
              <c:pt idx="25">
                <c:v>2014-02</c:v>
              </c:pt>
              <c:pt idx="26">
                <c:v>2014-03</c:v>
              </c:pt>
              <c:pt idx="27">
                <c:v>2014-04</c:v>
              </c:pt>
              <c:pt idx="28">
                <c:v>2014-05</c:v>
              </c:pt>
              <c:pt idx="29">
                <c:v>2014-06</c:v>
              </c:pt>
              <c:pt idx="30">
                <c:v>2014-07</c:v>
              </c:pt>
              <c:pt idx="31">
                <c:v>2014-08</c:v>
              </c:pt>
              <c:pt idx="32">
                <c:v>2014-09</c:v>
              </c:pt>
              <c:pt idx="33">
                <c:v>2014-10</c:v>
              </c:pt>
              <c:pt idx="34">
                <c:v>2014-11</c:v>
              </c:pt>
              <c:pt idx="35">
                <c:v>2014-12</c:v>
              </c:pt>
              <c:pt idx="36">
                <c:v>2015-01</c:v>
              </c:pt>
              <c:pt idx="37">
                <c:v>2015-02</c:v>
              </c:pt>
              <c:pt idx="38">
                <c:v>2015-03</c:v>
              </c:pt>
              <c:pt idx="39">
                <c:v>2015-04</c:v>
              </c:pt>
              <c:pt idx="40">
                <c:v>2015-05</c:v>
              </c:pt>
              <c:pt idx="41">
                <c:v>2015-06</c:v>
              </c:pt>
              <c:pt idx="42">
                <c:v>2015-07</c:v>
              </c:pt>
              <c:pt idx="43">
                <c:v>2015-08</c:v>
              </c:pt>
              <c:pt idx="44">
                <c:v>2015-09</c:v>
              </c:pt>
              <c:pt idx="45">
                <c:v>2015-10</c:v>
              </c:pt>
              <c:pt idx="46">
                <c:v>2015-11</c:v>
              </c:pt>
              <c:pt idx="47">
                <c:v>2015-12</c:v>
              </c:pt>
              <c:pt idx="48">
                <c:v>2016-01</c:v>
              </c:pt>
              <c:pt idx="49">
                <c:v>2016-02</c:v>
              </c:pt>
              <c:pt idx="50">
                <c:v>2016-03</c:v>
              </c:pt>
              <c:pt idx="51">
                <c:v>2016-04</c:v>
              </c:pt>
              <c:pt idx="52">
                <c:v>2016-05</c:v>
              </c:pt>
              <c:pt idx="53">
                <c:v>2016-06</c:v>
              </c:pt>
              <c:pt idx="54">
                <c:v>2016-07</c:v>
              </c:pt>
              <c:pt idx="55">
                <c:v>2016-08</c:v>
              </c:pt>
              <c:pt idx="56">
                <c:v>2016-09</c:v>
              </c:pt>
              <c:pt idx="57">
                <c:v>2016-10</c:v>
              </c:pt>
              <c:pt idx="58">
                <c:v>2016-11</c:v>
              </c:pt>
              <c:pt idx="59">
                <c:v>2016-12</c:v>
              </c:pt>
              <c:pt idx="60">
                <c:v>2017-01</c:v>
              </c:pt>
              <c:pt idx="61">
                <c:v>2017-02</c:v>
              </c:pt>
              <c:pt idx="62">
                <c:v>2017-03</c:v>
              </c:pt>
              <c:pt idx="63">
                <c:v>2017-04</c:v>
              </c:pt>
              <c:pt idx="64">
                <c:v>2017-05</c:v>
              </c:pt>
              <c:pt idx="65">
                <c:v>2017-06</c:v>
              </c:pt>
              <c:pt idx="66">
                <c:v>2017-07</c:v>
              </c:pt>
              <c:pt idx="67">
                <c:v>2017-08</c:v>
              </c:pt>
              <c:pt idx="68">
                <c:v>2017-09</c:v>
              </c:pt>
              <c:pt idx="69">
                <c:v>2017-10</c:v>
              </c:pt>
              <c:pt idx="70">
                <c:v>2017-11</c:v>
              </c:pt>
              <c:pt idx="71">
                <c:v>2017-12</c:v>
              </c:pt>
              <c:pt idx="72">
                <c:v>2018-01</c:v>
              </c:pt>
              <c:pt idx="73">
                <c:v>2018-02</c:v>
              </c:pt>
              <c:pt idx="74">
                <c:v>2018-03</c:v>
              </c:pt>
              <c:pt idx="75">
                <c:v>2018-04</c:v>
              </c:pt>
              <c:pt idx="76">
                <c:v>2018-05</c:v>
              </c:pt>
              <c:pt idx="77">
                <c:v>2018-06</c:v>
              </c:pt>
              <c:pt idx="78">
                <c:v>2018-07</c:v>
              </c:pt>
              <c:pt idx="79">
                <c:v>2018-08</c:v>
              </c:pt>
              <c:pt idx="80">
                <c:v>2018-09</c:v>
              </c:pt>
              <c:pt idx="81">
                <c:v>2018-10</c:v>
              </c:pt>
              <c:pt idx="82">
                <c:v>2018-11</c:v>
              </c:pt>
              <c:pt idx="83">
                <c:v>2018-12</c:v>
              </c:pt>
              <c:pt idx="84">
                <c:v>2019-01</c:v>
              </c:pt>
              <c:pt idx="85">
                <c:v>2019-02</c:v>
              </c:pt>
              <c:pt idx="86">
                <c:v>2019-03</c:v>
              </c:pt>
              <c:pt idx="87">
                <c:v>2019-04</c:v>
              </c:pt>
              <c:pt idx="88">
                <c:v>2019-05</c:v>
              </c:pt>
              <c:pt idx="89">
                <c:v>2019-06</c:v>
              </c:pt>
              <c:pt idx="90">
                <c:v>2019-07</c:v>
              </c:pt>
              <c:pt idx="91">
                <c:v>2019-08</c:v>
              </c:pt>
              <c:pt idx="92">
                <c:v>2019-09</c:v>
              </c:pt>
              <c:pt idx="93">
                <c:v>2019-10</c:v>
              </c:pt>
              <c:pt idx="94">
                <c:v>2019-11</c:v>
              </c:pt>
              <c:pt idx="95">
                <c:v>2019-12</c:v>
              </c:pt>
              <c:pt idx="96">
                <c:v>2020-01</c:v>
              </c:pt>
              <c:pt idx="97">
                <c:v>2020-02</c:v>
              </c:pt>
              <c:pt idx="98">
                <c:v>2020-03</c:v>
              </c:pt>
              <c:pt idx="99">
                <c:v>2020-04</c:v>
              </c:pt>
              <c:pt idx="100">
                <c:v>2020-05</c:v>
              </c:pt>
              <c:pt idx="101">
                <c:v>2020-06</c:v>
              </c:pt>
              <c:pt idx="102">
                <c:v>2020-07</c:v>
              </c:pt>
              <c:pt idx="103">
                <c:v>2020-08</c:v>
              </c:pt>
              <c:pt idx="104">
                <c:v>2020-09</c:v>
              </c:pt>
              <c:pt idx="105">
                <c:v>2020-10</c:v>
              </c:pt>
              <c:pt idx="106">
                <c:v>2020-11</c:v>
              </c:pt>
              <c:pt idx="107">
                <c:v>2020-12</c:v>
              </c:pt>
              <c:pt idx="108">
                <c:v>2021-01</c:v>
              </c:pt>
              <c:pt idx="109">
                <c:v>2021-02</c:v>
              </c:pt>
              <c:pt idx="110">
                <c:v>2021-03</c:v>
              </c:pt>
              <c:pt idx="111">
                <c:v>2021-04</c:v>
              </c:pt>
              <c:pt idx="112">
                <c:v>2021-05</c:v>
              </c:pt>
              <c:pt idx="113">
                <c:v>2021-06</c:v>
              </c:pt>
              <c:pt idx="114">
                <c:v>2021-07</c:v>
              </c:pt>
              <c:pt idx="115">
                <c:v>2021-08</c:v>
              </c:pt>
              <c:pt idx="116">
                <c:v>2021-09</c:v>
              </c:pt>
              <c:pt idx="117">
                <c:v>2021-10</c:v>
              </c:pt>
              <c:pt idx="118">
                <c:v>2021-11</c:v>
              </c:pt>
              <c:pt idx="119">
                <c:v>2021-12</c:v>
              </c:pt>
              <c:pt idx="120">
                <c:v>2022-01</c:v>
              </c:pt>
              <c:pt idx="121">
                <c:v>2022-02</c:v>
              </c:pt>
              <c:pt idx="122">
                <c:v>2022-03</c:v>
              </c:pt>
              <c:pt idx="123">
                <c:v>2022-04</c:v>
              </c:pt>
              <c:pt idx="124">
                <c:v>2022-05</c:v>
              </c:pt>
              <c:pt idx="125">
                <c:v>2022-06</c:v>
              </c:pt>
              <c:pt idx="126">
                <c:v>2022-07</c:v>
              </c:pt>
              <c:pt idx="127">
                <c:v>2022-08</c:v>
              </c:pt>
              <c:pt idx="128">
                <c:v>2022-09</c:v>
              </c:pt>
              <c:pt idx="129">
                <c:v>2022-10</c:v>
              </c:pt>
              <c:pt idx="130">
                <c:v>2022-11</c:v>
              </c:pt>
              <c:pt idx="131">
                <c:v>2022-12</c:v>
              </c:pt>
              <c:pt idx="132">
                <c:v>2023-01</c:v>
              </c:pt>
              <c:pt idx="133">
                <c:v>2023-02</c:v>
              </c:pt>
              <c:pt idx="134">
                <c:v>2023-03</c:v>
              </c:pt>
              <c:pt idx="135">
                <c:v>2023-04</c:v>
              </c:pt>
              <c:pt idx="136">
                <c:v>2023-05</c:v>
              </c:pt>
              <c:pt idx="137">
                <c:v>2023-06</c:v>
              </c:pt>
              <c:pt idx="138">
                <c:v>2023-07</c:v>
              </c:pt>
              <c:pt idx="139">
                <c:v>2023-08</c:v>
              </c:pt>
              <c:pt idx="140">
                <c:v>2023-09</c:v>
              </c:pt>
              <c:pt idx="141">
                <c:v>2023-10</c:v>
              </c:pt>
              <c:pt idx="142">
                <c:v>2023-11</c:v>
              </c:pt>
              <c:pt idx="143">
                <c:v>2023-12</c:v>
              </c:pt>
              <c:pt idx="144">
                <c:v>2024-01</c:v>
              </c:pt>
              <c:pt idx="145">
                <c:v>2024-02</c:v>
              </c:pt>
              <c:pt idx="146">
                <c:v>2024-03</c:v>
              </c:pt>
              <c:pt idx="147">
                <c:v>2024-04</c:v>
              </c:pt>
              <c:pt idx="148">
                <c:v>2024-05</c:v>
              </c:pt>
              <c:pt idx="149">
                <c:v>2024-06</c:v>
              </c:pt>
              <c:pt idx="150">
                <c:v>2024-07</c:v>
              </c:pt>
              <c:pt idx="151">
                <c:v>2024-08</c:v>
              </c:pt>
              <c:pt idx="152">
                <c:v>2024-09</c:v>
              </c:pt>
              <c:pt idx="153">
                <c:v>2024-10</c:v>
              </c:pt>
              <c:pt idx="154">
                <c:v>2024-11</c:v>
              </c:pt>
              <c:pt idx="155">
                <c:v>2024-12</c:v>
              </c:pt>
              <c:pt idx="156">
                <c:v>2025-01</c:v>
              </c:pt>
              <c:pt idx="157">
                <c:v>2025-02</c:v>
              </c:pt>
              <c:pt idx="158">
                <c:v>2025-03</c:v>
              </c:pt>
              <c:pt idx="159">
                <c:v>2025-04</c:v>
              </c:pt>
              <c:pt idx="160">
                <c:v>2025-05</c:v>
              </c:pt>
              <c:pt idx="161">
                <c:v>2025-06</c:v>
              </c:pt>
              <c:pt idx="162">
                <c:v>2025-07</c:v>
              </c:pt>
              <c:pt idx="163">
                <c:v>2025-08</c:v>
              </c:pt>
              <c:pt idx="164">
                <c:v>2025-09</c:v>
              </c:pt>
              <c:pt idx="165">
                <c:v>2025-10</c:v>
              </c:pt>
              <c:pt idx="166">
                <c:v>2025-11</c:v>
              </c:pt>
              <c:pt idx="167">
                <c:v>2025-12</c:v>
              </c:pt>
            </c:strLit>
          </c:cat>
          <c:val>
            <c:numLit>
              <c:formatCode>0</c:formatCode>
              <c:ptCount val="168"/>
              <c:pt idx="0">
                <c:v>757.45</c:v>
              </c:pt>
              <c:pt idx="1">
                <c:v>818.78</c:v>
              </c:pt>
              <c:pt idx="2">
                <c:v>842.91</c:v>
              </c:pt>
              <c:pt idx="3">
                <c:v>863.82</c:v>
              </c:pt>
              <c:pt idx="4">
                <c:v>791.54</c:v>
              </c:pt>
              <c:pt idx="5">
                <c:v>814.38</c:v>
              </c:pt>
              <c:pt idx="6">
                <c:v>828.67</c:v>
              </c:pt>
              <c:pt idx="7">
                <c:v>840.32</c:v>
              </c:pt>
              <c:pt idx="8">
                <c:v>886.58</c:v>
              </c:pt>
              <c:pt idx="9">
                <c:v>879.06</c:v>
              </c:pt>
              <c:pt idx="10">
                <c:v>898.81</c:v>
              </c:pt>
              <c:pt idx="11">
                <c:v>945.39</c:v>
              </c:pt>
              <c:pt idx="12">
                <c:v>988.21</c:v>
              </c:pt>
              <c:pt idx="13">
                <c:v>1014.03</c:v>
              </c:pt>
              <c:pt idx="14">
                <c:v>1024.92</c:v>
              </c:pt>
              <c:pt idx="15">
                <c:v>1055.62</c:v>
              </c:pt>
              <c:pt idx="16">
                <c:v>1029.01</c:v>
              </c:pt>
              <c:pt idx="17">
                <c:v>982.99</c:v>
              </c:pt>
              <c:pt idx="18">
                <c:v>966.03</c:v>
              </c:pt>
              <c:pt idx="19">
                <c:v>882.98</c:v>
              </c:pt>
              <c:pt idx="20">
                <c:v>940.88</c:v>
              </c:pt>
              <c:pt idx="21">
                <c:v>987.06</c:v>
              </c:pt>
              <c:pt idx="22">
                <c:v>935.22</c:v>
              </c:pt>
              <c:pt idx="23">
                <c:v>883.4</c:v>
              </c:pt>
              <c:pt idx="24">
                <c:v>866.34</c:v>
              </c:pt>
              <c:pt idx="25">
                <c:v>899.51</c:v>
              </c:pt>
              <c:pt idx="26">
                <c:v>935.76</c:v>
              </c:pt>
              <c:pt idx="27">
                <c:v>959.51</c:v>
              </c:pt>
              <c:pt idx="28">
                <c:v>952.2</c:v>
              </c:pt>
              <c:pt idx="29">
                <c:v>999.62</c:v>
              </c:pt>
              <c:pt idx="30">
                <c:v>1006.97</c:v>
              </c:pt>
              <c:pt idx="31">
                <c:v>1044.25</c:v>
              </c:pt>
              <c:pt idx="32">
                <c:v>1057.22</c:v>
              </c:pt>
              <c:pt idx="33">
                <c:v>1053.22</c:v>
              </c:pt>
              <c:pt idx="34">
                <c:v>1069.36</c:v>
              </c:pt>
              <c:pt idx="35">
                <c:v>1001.01</c:v>
              </c:pt>
              <c:pt idx="36">
                <c:v>1050.29</c:v>
              </c:pt>
              <c:pt idx="37">
                <c:v>1042.8</c:v>
              </c:pt>
              <c:pt idx="38">
                <c:v>997.66</c:v>
              </c:pt>
              <c:pt idx="39">
                <c:v>1006.1</c:v>
              </c:pt>
              <c:pt idx="40">
                <c:v>985.37</c:v>
              </c:pt>
              <c:pt idx="41">
                <c:v>989.21</c:v>
              </c:pt>
              <c:pt idx="42">
                <c:v>950.42</c:v>
              </c:pt>
              <c:pt idx="43">
                <c:v>905.68</c:v>
              </c:pt>
              <c:pt idx="44">
                <c:v>868.71</c:v>
              </c:pt>
              <c:pt idx="45">
                <c:v>899.52</c:v>
              </c:pt>
              <c:pt idx="46">
                <c:v>869.38</c:v>
              </c:pt>
              <c:pt idx="47">
                <c:v>813.55</c:v>
              </c:pt>
              <c:pt idx="48">
                <c:v>826.21</c:v>
              </c:pt>
              <c:pt idx="49">
                <c:v>851.02</c:v>
              </c:pt>
              <c:pt idx="50">
                <c:v>905.93</c:v>
              </c:pt>
              <c:pt idx="51">
                <c:v>891.83</c:v>
              </c:pt>
              <c:pt idx="52">
                <c:v>911.11</c:v>
              </c:pt>
              <c:pt idx="53">
                <c:v>910.56</c:v>
              </c:pt>
              <c:pt idx="54">
                <c:v>964.44</c:v>
              </c:pt>
              <c:pt idx="55">
                <c:v>983.26</c:v>
              </c:pt>
              <c:pt idx="56">
                <c:v>944.42</c:v>
              </c:pt>
              <c:pt idx="57">
                <c:v>936.66</c:v>
              </c:pt>
              <c:pt idx="58">
                <c:v>943.18</c:v>
              </c:pt>
              <c:pt idx="59">
                <c:v>964.84</c:v>
              </c:pt>
              <c:pt idx="60">
                <c:v>984.21</c:v>
              </c:pt>
              <c:pt idx="61">
                <c:v>978.46</c:v>
              </c:pt>
              <c:pt idx="62">
                <c:v>996.44</c:v>
              </c:pt>
              <c:pt idx="63">
                <c:v>993.98</c:v>
              </c:pt>
              <c:pt idx="64">
                <c:v>986.08</c:v>
              </c:pt>
              <c:pt idx="65">
                <c:v>994.35</c:v>
              </c:pt>
              <c:pt idx="66">
                <c:v>1003.96</c:v>
              </c:pt>
              <c:pt idx="67">
                <c:v>1034.29</c:v>
              </c:pt>
              <c:pt idx="68">
                <c:v>1068.92</c:v>
              </c:pt>
              <c:pt idx="69">
                <c:v>1094.74</c:v>
              </c:pt>
              <c:pt idx="70">
                <c:v>1085.86</c:v>
              </c:pt>
              <c:pt idx="71">
                <c:v>1135.14</c:v>
              </c:pt>
              <c:pt idx="72">
                <c:v>1186.16</c:v>
              </c:pt>
              <c:pt idx="73">
                <c:v>1205.57</c:v>
              </c:pt>
              <c:pt idx="74">
                <c:v>1171.79</c:v>
              </c:pt>
              <c:pt idx="75">
                <c:v>1177.02</c:v>
              </c:pt>
              <c:pt idx="76">
                <c:v>1134.76</c:v>
              </c:pt>
              <c:pt idx="77">
                <c:v>1051.63</c:v>
              </c:pt>
              <c:pt idx="78">
                <c:v>1127.56</c:v>
              </c:pt>
              <c:pt idx="79">
                <c:v>1138.8</c:v>
              </c:pt>
              <c:pt idx="80">
                <c:v>1158.75</c:v>
              </c:pt>
              <c:pt idx="81">
                <c:v>1102.49</c:v>
              </c:pt>
              <c:pt idx="82">
                <c:v>1091.55</c:v>
              </c:pt>
              <c:pt idx="83">
                <c:v>1044.92</c:v>
              </c:pt>
              <c:pt idx="84">
                <c:v>1096.5</c:v>
              </c:pt>
              <c:pt idx="85">
                <c:v>1099.3</c:v>
              </c:pt>
              <c:pt idx="86">
                <c:v>1090.94</c:v>
              </c:pt>
              <c:pt idx="87">
                <c:v>1112.39</c:v>
              </c:pt>
              <c:pt idx="88">
                <c:v>1074.87</c:v>
              </c:pt>
              <c:pt idx="89">
                <c:v>1150.85</c:v>
              </c:pt>
              <c:pt idx="90">
                <c:v>1130.92</c:v>
              </c:pt>
              <c:pt idx="91">
                <c:v>1096.47</c:v>
              </c:pt>
              <c:pt idx="92">
                <c:v>1090.31</c:v>
              </c:pt>
              <c:pt idx="93">
                <c:v>1073.26</c:v>
              </c:pt>
              <c:pt idx="94">
                <c:v>1070.23</c:v>
              </c:pt>
              <c:pt idx="95">
                <c:v>1068.5</c:v>
              </c:pt>
              <c:pt idx="96">
                <c:v>1018.08</c:v>
              </c:pt>
              <c:pt idx="97">
                <c:v>897.84</c:v>
              </c:pt>
              <c:pt idx="98">
                <c:v>756.91</c:v>
              </c:pt>
              <c:pt idx="99">
                <c:v>873.56</c:v>
              </c:pt>
              <c:pt idx="100">
                <c:v>896.01</c:v>
              </c:pt>
              <c:pt idx="101">
                <c:v>885.15</c:v>
              </c:pt>
              <c:pt idx="102">
                <c:v>862.98</c:v>
              </c:pt>
              <c:pt idx="103">
                <c:v>844.22</c:v>
              </c:pt>
              <c:pt idx="104">
                <c:v>781.06</c:v>
              </c:pt>
              <c:pt idx="105">
                <c:v>746.26</c:v>
              </c:pt>
              <c:pt idx="106">
                <c:v>908.61</c:v>
              </c:pt>
              <c:pt idx="107">
                <c:v>910.45</c:v>
              </c:pt>
              <c:pt idx="108">
                <c:v>916.66</c:v>
              </c:pt>
              <c:pt idx="109">
                <c:v>929.95</c:v>
              </c:pt>
              <c:pt idx="110">
                <c:v>971.24</c:v>
              </c:pt>
              <c:pt idx="111">
                <c:v>955.97</c:v>
              </c:pt>
              <c:pt idx="112">
                <c:v>962.58</c:v>
              </c:pt>
              <c:pt idx="113">
                <c:v>953.72</c:v>
              </c:pt>
              <c:pt idx="114">
                <c:v>910.61</c:v>
              </c:pt>
              <c:pt idx="115">
                <c:v>992.13</c:v>
              </c:pt>
              <c:pt idx="116">
                <c:v>964.35</c:v>
              </c:pt>
              <c:pt idx="117">
                <c:v>974.67</c:v>
              </c:pt>
              <c:pt idx="118">
                <c:v>935.08</c:v>
              </c:pt>
              <c:pt idx="119">
                <c:v>990.75</c:v>
              </c:pt>
              <c:pt idx="120">
                <c:v>993.29</c:v>
              </c:pt>
              <c:pt idx="121">
                <c:v>1016.58</c:v>
              </c:pt>
              <c:pt idx="122">
                <c:v>1019.67</c:v>
              </c:pt>
              <c:pt idx="123">
                <c:v>983.56</c:v>
              </c:pt>
              <c:pt idx="124">
                <c:v>1002.24</c:v>
              </c:pt>
              <c:pt idx="125">
                <c:v>951.07</c:v>
              </c:pt>
              <c:pt idx="126">
                <c:v>958.73</c:v>
              </c:pt>
              <c:pt idx="127">
                <c:v>996.33</c:v>
              </c:pt>
              <c:pt idx="128">
                <c:v>954.44</c:v>
              </c:pt>
              <c:pt idx="129">
                <c:v>979.45</c:v>
              </c:pt>
              <c:pt idx="130">
                <c:v>993.78</c:v>
              </c:pt>
              <c:pt idx="131">
                <c:v>1005.24</c:v>
              </c:pt>
              <c:pt idx="132">
                <c:v>992.95</c:v>
              </c:pt>
              <c:pt idx="133">
                <c:v>965.56</c:v>
              </c:pt>
              <c:pt idx="134">
                <c:v>974.26</c:v>
              </c:pt>
              <c:pt idx="135">
                <c:v>922.72</c:v>
              </c:pt>
              <c:pt idx="136">
                <c:v>924.65</c:v>
              </c:pt>
              <c:pt idx="137">
                <c:v>919.28</c:v>
              </c:pt>
              <c:pt idx="138">
                <c:v>966.18</c:v>
              </c:pt>
              <c:pt idx="139">
                <c:v>957.21</c:v>
              </c:pt>
              <c:pt idx="140">
                <c:v>899.28</c:v>
              </c:pt>
              <c:pt idx="141">
                <c:v>856.53</c:v>
              </c:pt>
              <c:pt idx="142">
                <c:v>852.94</c:v>
              </c:pt>
              <c:pt idx="143">
                <c:v>875.25</c:v>
              </c:pt>
              <c:pt idx="144">
                <c:v>834.02</c:v>
              </c:pt>
              <c:pt idx="145">
                <c:v>836.19</c:v>
              </c:pt>
              <c:pt idx="146">
                <c:v>844.41</c:v>
              </c:pt>
              <c:pt idx="147">
                <c:v>837.97</c:v>
              </c:pt>
              <c:pt idx="148">
                <c:v>825.96</c:v>
              </c:pt>
              <c:pt idx="149">
                <c:v>806.1</c:v>
              </c:pt>
              <c:pt idx="150">
                <c:v>831.91</c:v>
              </c:pt>
              <c:pt idx="151">
                <c:v>857.38</c:v>
              </c:pt>
              <c:pt idx="152">
                <c:v>914.07</c:v>
              </c:pt>
              <c:pt idx="153">
                <c:v>936.69</c:v>
              </c:pt>
              <c:pt idx="154">
                <c:v>918.45</c:v>
              </c:pt>
              <c:pt idx="155">
                <c:v>906.23</c:v>
              </c:pt>
              <c:pt idx="156">
                <c:v>856.4</c:v>
              </c:pt>
              <c:pt idx="157">
                <c:v>766.7</c:v>
              </c:pt>
              <c:pt idx="158">
                <c:v>739.77</c:v>
              </c:pt>
              <c:pt idx="159">
                <c:v>775.79</c:v>
              </c:pt>
              <c:pt idx="160">
                <c:v>746.02</c:v>
              </c:pt>
              <c:pt idx="161">
                <c:v>708.6</c:v>
              </c:pt>
              <c:pt idx="162">
                <c:v>814.78</c:v>
              </c:pt>
              <c:pt idx="163">
                <c:v>808.02</c:v>
              </c:pt>
              <c:pt idx="164">
                <c:v>825.42</c:v>
              </c:pt>
              <c:pt idx="165">
                <c:v>851.93</c:v>
              </c:pt>
              <c:pt idx="166">
                <c:v>822.78</c:v>
              </c:pt>
              <c:pt idx="167">
                <c:v>828.5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7620">
            <a:solidFill>
              <a:srgbClr val="6262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240"/>
          <c:min val="64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9DEE2"/>
              </a:solidFill>
              <a:prstDash val="solid"/>
            </a:ln>
          </c:spPr>
        </c:majorGridlines>
        <c:numFmt formatCode="0"/>
        <c:majorUnit val="150"/>
        <c:majorTickMark val="none"/>
        <c:minorTickMark val="none"/>
        <c:spPr>
          <a:ln xmlns:a="http://schemas.openxmlformats.org/drawingml/2006/main" w="7620">
            <a:solidFill>
              <a:srgbClr val="6262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26262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626262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ing-input">
            <a:extLst xmlns:a="http://schemas.openxmlformats.org/drawingml/2006/main">
              <a:ext uri="{FF2B5EF4-FFF2-40B4-BE49-F238E27FC236}">
                <a16:creationId xmlns:a16="http://schemas.microsoft.com/office/drawing/2014/main" id="{8955CD68-56E0-4FFE-9E72-E16C9949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 data</a:t>
            </a:r>
          </a:p>
        </p:txBody>
      </p:sp>
      <p:sp>
        <p:nvSpPr>
          <p:cNvPr id="2" name="rule-input">
            <a:extLst xmlns:a="http://schemas.openxmlformats.org/drawingml/2006/main">
              <a:ext uri="{FF2B5EF4-FFF2-40B4-BE49-F238E27FC236}">
                <a16:creationId xmlns:a16="http://schemas.microsoft.com/office/drawing/2014/main" id="{B6FEA3DA-77DE-4613-A159-FFFD787E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24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26262"/>
            </a:solidFill>
            <a:prstDash val="solid"/>
          </a:ln>
        </p:spPr>
      </p:sp>
      <p:sp>
        <p:nvSpPr>
          <p:cNvPr id="3" name="heading-method">
            <a:extLst xmlns:a="http://schemas.openxmlformats.org/drawingml/2006/main">
              <a:ext uri="{FF2B5EF4-FFF2-40B4-BE49-F238E27FC236}">
                <a16:creationId xmlns:a16="http://schemas.microsoft.com/office/drawing/2014/main" id="{0A835627-711A-40A2-85DF-E4334135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62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Point-in-time reliability evaluation</a:t>
            </a:r>
          </a:p>
        </p:txBody>
      </p:sp>
      <p:sp>
        <p:nvSpPr>
          <p:cNvPr id="4" name="rule-method">
            <a:extLst xmlns:a="http://schemas.openxmlformats.org/drawingml/2006/main">
              <a:ext uri="{FF2B5EF4-FFF2-40B4-BE49-F238E27FC236}">
                <a16:creationId xmlns:a16="http://schemas.microsoft.com/office/drawing/2014/main" id="{D6A78EEB-39C5-4666-8169-929053DC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5247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26262"/>
            </a:solidFill>
            <a:prstDash val="solid"/>
          </a:ln>
        </p:spPr>
      </p:sp>
      <p:sp>
        <p:nvSpPr>
          <p:cNvPr id="5" name="heading-findings">
            <a:extLst xmlns:a="http://schemas.openxmlformats.org/drawingml/2006/main">
              <a:ext uri="{FF2B5EF4-FFF2-40B4-BE49-F238E27FC236}">
                <a16:creationId xmlns:a16="http://schemas.microsoft.com/office/drawing/2014/main" id="{50D77D0E-AC48-40B5-9460-37F15634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276225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Main findings</a:t>
            </a:r>
          </a:p>
        </p:txBody>
      </p:sp>
      <p:sp>
        <p:nvSpPr>
          <p:cNvPr id="6" name="rule-findings">
            <a:extLst xmlns:a="http://schemas.openxmlformats.org/drawingml/2006/main">
              <a:ext uri="{FF2B5EF4-FFF2-40B4-BE49-F238E27FC236}">
                <a16:creationId xmlns:a16="http://schemas.microsoft.com/office/drawing/2014/main" id="{EEFF190B-FEB8-4DBA-B1D0-0FCC7F60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752475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26262"/>
            </a:solidFill>
            <a:prstDash val="solid"/>
          </a:ln>
        </p:spPr>
      </p:sp>
      <p:sp>
        <p:nvSpPr>
          <p:cNvPr id="7" name="arrow-input-to-method">
            <a:extLst xmlns:a="http://schemas.openxmlformats.org/drawingml/2006/main">
              <a:ext uri="{FF2B5EF4-FFF2-40B4-BE49-F238E27FC236}">
                <a16:creationId xmlns:a16="http://schemas.microsoft.com/office/drawing/2014/main" id="{02A8505F-E2B1-4062-98F7-50FF02D1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005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33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8" name="arrow-method-to-findings">
            <a:extLst xmlns:a="http://schemas.openxmlformats.org/drawingml/2006/main">
              <a:ext uri="{FF2B5EF4-FFF2-40B4-BE49-F238E27FC236}">
                <a16:creationId xmlns:a16="http://schemas.microsoft.com/office/drawing/2014/main" id="{1FE390F5-E083-402E-B7B6-1B98BC57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44005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33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9" name="market-panel">
            <a:extLst xmlns:a="http://schemas.openxmlformats.org/drawingml/2006/main">
              <a:ext uri="{FF2B5EF4-FFF2-40B4-BE49-F238E27FC236}">
                <a16:creationId xmlns:a16="http://schemas.microsoft.com/office/drawing/2014/main" id="{9E55AE9A-7868-4348-98A4-92FE33B2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33450"/>
            <a:ext cx="45720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12383">
            <a:solidFill>
              <a:srgbClr val="626262"/>
            </a:solidFill>
            <a:prstDash val="solid"/>
          </a:ln>
        </p:spPr>
      </p:sp>
      <p:sp>
        <p:nvSpPr>
          <p:cNvPr id="10" name="market-eyebrow">
            <a:extLst xmlns:a="http://schemas.openxmlformats.org/drawingml/2006/main">
              <a:ext uri="{FF2B5EF4-FFF2-40B4-BE49-F238E27FC236}">
                <a16:creationId xmlns:a16="http://schemas.microsoft.com/office/drawing/2014/main" id="{46353521-A01A-4371-A194-6796DA8B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MARKET SERIES</a:t>
            </a:r>
          </a:p>
        </p:txBody>
      </p:sp>
      <p:sp>
        <p:nvSpPr>
          <p:cNvPr id="11" name="market-title">
            <a:extLst xmlns:a="http://schemas.openxmlformats.org/drawingml/2006/main">
              <a:ext uri="{FF2B5EF4-FFF2-40B4-BE49-F238E27FC236}">
                <a16:creationId xmlns:a16="http://schemas.microsoft.com/office/drawing/2014/main" id="{F99A18E5-42A3-4EBB-9B24-8DA3CBC2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SET50 daily index</a:t>
            </a:r>
          </a:p>
        </p:txBody>
      </p:sp>
      <p:sp>
        <p:nvSpPr>
          <p:cNvPr id="12" name="market-meta-date">
            <a:extLst xmlns:a="http://schemas.openxmlformats.org/drawingml/2006/main">
              <a:ext uri="{FF2B5EF4-FFF2-40B4-BE49-F238E27FC236}">
                <a16:creationId xmlns:a16="http://schemas.microsoft.com/office/drawing/2014/main" id="{B239954A-EBC6-4235-97EC-92966E4D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91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2012–2025</a:t>
            </a:r>
          </a:p>
        </p:txBody>
      </p:sp>
      <p:sp>
        <p:nvSpPr>
          <p:cNvPr id="13" name="market-meta-divider-1">
            <a:extLst xmlns:a="http://schemas.openxmlformats.org/drawingml/2006/main">
              <a:ext uri="{FF2B5EF4-FFF2-40B4-BE49-F238E27FC236}">
                <a16:creationId xmlns:a16="http://schemas.microsoft.com/office/drawing/2014/main" id="{D9587FDF-BF44-46FD-88E6-1E073ECE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85950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4" name="market-meta-features">
            <a:extLst xmlns:a="http://schemas.openxmlformats.org/drawingml/2006/main">
              <a:ext uri="{FF2B5EF4-FFF2-40B4-BE49-F238E27FC236}">
                <a16:creationId xmlns:a16="http://schemas.microsoft.com/office/drawing/2014/main" id="{F906B732-030C-4F24-A459-A776ADBE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050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116 TA features</a:t>
            </a:r>
          </a:p>
        </p:txBody>
      </p:sp>
      <p:sp>
        <p:nvSpPr>
          <p:cNvPr id="15" name="market-meta-divider-2">
            <a:extLst xmlns:a="http://schemas.openxmlformats.org/drawingml/2006/main">
              <a:ext uri="{FF2B5EF4-FFF2-40B4-BE49-F238E27FC236}">
                <a16:creationId xmlns:a16="http://schemas.microsoft.com/office/drawing/2014/main" id="{9DBF5686-8584-43D5-8F7A-003E454F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85950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6" name="market-meta-target">
            <a:extLst xmlns:a="http://schemas.openxmlformats.org/drawingml/2006/main">
              <a:ext uri="{FF2B5EF4-FFF2-40B4-BE49-F238E27FC236}">
                <a16:creationId xmlns:a16="http://schemas.microsoft.com/office/drawing/2014/main" id="{7DAEC717-A0D0-484A-8E33-D245E805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1190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t+1 target</a:t>
            </a:r>
          </a:p>
        </p:txBody>
      </p:sp>
      <p:graphicFrame>
        <p:nvGraphicFramePr>
          <p:cNvPr id="182" name="Chart"/>
          <p:cNvGraphicFramePr/>
          <p:nvPr/>
        </p:nvGraphicFramePr>
        <p:xfrm>
          <a:off xmlns:a="http://schemas.openxmlformats.org/drawingml/2006/main" x="581025" y="2257425"/>
          <a:ext xmlns:a="http://schemas.openxmlformats.org/drawingml/2006/main" cx="41719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4870bc735f4c97"/>
          </a:graphicData>
        </a:graphic>
      </p:graphicFrame>
      <p:sp>
        <p:nvSpPr>
          <p:cNvPr id="18" name="chart-label">
            <a:extLst xmlns:a="http://schemas.openxmlformats.org/drawingml/2006/main">
              <a:ext uri="{FF2B5EF4-FFF2-40B4-BE49-F238E27FC236}">
                <a16:creationId xmlns:a16="http://schemas.microsoft.com/office/drawing/2014/main" id="{11368140-259A-4522-AFAC-1C18BD44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336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SET50 close</a:t>
            </a:r>
          </a:p>
        </p:txBody>
      </p:sp>
      <p:sp>
        <p:nvSpPr>
          <p:cNvPr id="19" name="chart-year-2012">
            <a:extLst xmlns:a="http://schemas.openxmlformats.org/drawingml/2006/main">
              <a:ext uri="{FF2B5EF4-FFF2-40B4-BE49-F238E27FC236}">
                <a16:creationId xmlns:a16="http://schemas.microsoft.com/office/drawing/2014/main" id="{520A9F59-DCE7-4916-883A-C5988E06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814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2012</a:t>
            </a:r>
          </a:p>
        </p:txBody>
      </p:sp>
      <p:sp>
        <p:nvSpPr>
          <p:cNvPr id="20" name="chart-year-2015">
            <a:extLst xmlns:a="http://schemas.openxmlformats.org/drawingml/2006/main">
              <a:ext uri="{FF2B5EF4-FFF2-40B4-BE49-F238E27FC236}">
                <a16:creationId xmlns:a16="http://schemas.microsoft.com/office/drawing/2014/main" id="{AA8D6A69-42E0-4513-8274-69C58BA2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814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2015</a:t>
            </a:r>
          </a:p>
        </p:txBody>
      </p:sp>
      <p:sp>
        <p:nvSpPr>
          <p:cNvPr id="21" name="chart-year-2018">
            <a:extLst xmlns:a="http://schemas.openxmlformats.org/drawingml/2006/main">
              <a:ext uri="{FF2B5EF4-FFF2-40B4-BE49-F238E27FC236}">
                <a16:creationId xmlns:a16="http://schemas.microsoft.com/office/drawing/2014/main" id="{1CBE7114-5082-49B2-9A88-D70E5C8A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9814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2018</a:t>
            </a:r>
          </a:p>
        </p:txBody>
      </p:sp>
      <p:sp>
        <p:nvSpPr>
          <p:cNvPr id="22" name="chart-year-2021">
            <a:extLst xmlns:a="http://schemas.openxmlformats.org/drawingml/2006/main">
              <a:ext uri="{FF2B5EF4-FFF2-40B4-BE49-F238E27FC236}">
                <a16:creationId xmlns:a16="http://schemas.microsoft.com/office/drawing/2014/main" id="{095DBB46-B433-4056-8932-9A4DCEA5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814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2021</a:t>
            </a:r>
          </a:p>
        </p:txBody>
      </p:sp>
      <p:sp>
        <p:nvSpPr>
          <p:cNvPr id="23" name="chart-year-2023">
            <a:extLst xmlns:a="http://schemas.openxmlformats.org/drawingml/2006/main">
              <a:ext uri="{FF2B5EF4-FFF2-40B4-BE49-F238E27FC236}">
                <a16:creationId xmlns:a16="http://schemas.microsoft.com/office/drawing/2014/main" id="{7EC2C259-8C50-4E3B-8B20-C2523593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814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24" name="chart-year-2025">
            <a:extLst xmlns:a="http://schemas.openxmlformats.org/drawingml/2006/main">
              <a:ext uri="{FF2B5EF4-FFF2-40B4-BE49-F238E27FC236}">
                <a16:creationId xmlns:a16="http://schemas.microsoft.com/office/drawing/2014/main" id="{4D619FC3-09DE-4EC1-B32D-A8A9CED5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2025</a:t>
            </a:r>
          </a:p>
        </p:txBody>
      </p:sp>
      <p:sp>
        <p:nvSpPr>
          <p:cNvPr id="25" name="market-note">
            <a:extLst xmlns:a="http://schemas.openxmlformats.org/drawingml/2006/main">
              <a:ext uri="{FF2B5EF4-FFF2-40B4-BE49-F238E27FC236}">
                <a16:creationId xmlns:a16="http://schemas.microsoft.com/office/drawing/2014/main" id="{2B1ED197-3A5C-4B2E-92B6-D75576F0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 numerical features are reconstructed using only</a:t>
            </a:r>
          </a:p>
          <a:p xmlns:a="http://schemas.openxmlformats.org/drawingml/2006/main">
            <a:pPr algn="l">
              <a:defRPr sz="15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information available by the close of day t.</a:t>
            </a:r>
          </a:p>
        </p:txBody>
      </p:sp>
      <p:sp>
        <p:nvSpPr>
          <p:cNvPr id="26" name="news-panel">
            <a:extLst xmlns:a="http://schemas.openxmlformats.org/drawingml/2006/main">
              <a:ext uri="{FF2B5EF4-FFF2-40B4-BE49-F238E27FC236}">
                <a16:creationId xmlns:a16="http://schemas.microsoft.com/office/drawing/2014/main" id="{4FF1315E-9775-4C3F-BBB2-63C4F492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91125"/>
            <a:ext cx="45720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26262"/>
            </a:solidFill>
            <a:prstDash val="solid"/>
          </a:ln>
        </p:spPr>
      </p:sp>
      <p:sp>
        <p:nvSpPr>
          <p:cNvPr id="27" name="news-eyebrow">
            <a:extLst xmlns:a="http://schemas.openxmlformats.org/drawingml/2006/main">
              <a:ext uri="{FF2B5EF4-FFF2-40B4-BE49-F238E27FC236}">
                <a16:creationId xmlns:a16="http://schemas.microsoft.com/office/drawing/2014/main" id="{FE926B31-7833-4CBF-98E1-F49BD055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FINANCIAL-NEWS MODALITY</a:t>
            </a:r>
          </a:p>
        </p:txBody>
      </p:sp>
      <p:sp>
        <p:nvSpPr>
          <p:cNvPr id="28" name="news-title">
            <a:extLst xmlns:a="http://schemas.openxmlformats.org/drawingml/2006/main">
              <a:ext uri="{FF2B5EF4-FFF2-40B4-BE49-F238E27FC236}">
                <a16:creationId xmlns:a16="http://schemas.microsoft.com/office/drawing/2014/main" id="{8F6A20ED-2C04-4D55-9224-2AD8B782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Dated news to out-of-sample</a:t>
            </a:r>
          </a:p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sentiment</a:t>
            </a:r>
          </a:p>
        </p:txBody>
      </p:sp>
      <p:sp>
        <p:nvSpPr>
          <p:cNvPr id="29" name="news-node-articles">
            <a:extLst xmlns:a="http://schemas.openxmlformats.org/drawingml/2006/main">
              <a:ext uri="{FF2B5EF4-FFF2-40B4-BE49-F238E27FC236}">
                <a16:creationId xmlns:a16="http://schemas.microsoft.com/office/drawing/2014/main" id="{ABE31479-3D2C-4314-AEA9-4DAC2CD7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600825"/>
            <a:ext cx="1171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30" name="news-node-articles-text">
            <a:extLst xmlns:a="http://schemas.openxmlformats.org/drawingml/2006/main">
              <a:ext uri="{FF2B5EF4-FFF2-40B4-BE49-F238E27FC236}">
                <a16:creationId xmlns:a16="http://schemas.microsoft.com/office/drawing/2014/main" id="{351869EF-6E85-451C-A2D7-EB628047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724650"/>
            <a:ext cx="1057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Dated articles</a:t>
            </a:r>
          </a:p>
        </p:txBody>
      </p:sp>
      <p:sp>
        <p:nvSpPr>
          <p:cNvPr id="31" name="news-arrow-1">
            <a:extLst xmlns:a="http://schemas.openxmlformats.org/drawingml/2006/main">
              <a:ext uri="{FF2B5EF4-FFF2-40B4-BE49-F238E27FC236}">
                <a16:creationId xmlns:a16="http://schemas.microsoft.com/office/drawing/2014/main" id="{CBC2837F-FF9B-4CC0-95BA-3F618B4C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74370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32" name="news-node-filter">
            <a:extLst xmlns:a="http://schemas.openxmlformats.org/drawingml/2006/main">
              <a:ext uri="{FF2B5EF4-FFF2-40B4-BE49-F238E27FC236}">
                <a16:creationId xmlns:a16="http://schemas.microsoft.com/office/drawing/2014/main" id="{9896C81F-B32E-4D52-A1B9-78D1107D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515100"/>
            <a:ext cx="11715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33" name="news-node-filter-text">
            <a:extLst xmlns:a="http://schemas.openxmlformats.org/drawingml/2006/main">
              <a:ext uri="{FF2B5EF4-FFF2-40B4-BE49-F238E27FC236}">
                <a16:creationId xmlns:a16="http://schemas.microsoft.com/office/drawing/2014/main" id="{F5E2E697-55B5-4141-90DB-72B584D3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600825"/>
            <a:ext cx="1057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029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Date, ticker</a:t>
            </a:r>
          </a:p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and relevance</a:t>
            </a:r>
          </a:p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filter</a:t>
            </a:r>
          </a:p>
        </p:txBody>
      </p:sp>
      <p:sp>
        <p:nvSpPr>
          <p:cNvPr id="34" name="news-arrow-2">
            <a:extLst xmlns:a="http://schemas.openxmlformats.org/drawingml/2006/main">
              <a:ext uri="{FF2B5EF4-FFF2-40B4-BE49-F238E27FC236}">
                <a16:creationId xmlns:a16="http://schemas.microsoft.com/office/drawing/2014/main" id="{63189843-A7DF-42D2-80A3-579306D1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7437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018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35" name="news-node-sentiment">
            <a:extLst xmlns:a="http://schemas.openxmlformats.org/drawingml/2006/main">
              <a:ext uri="{FF2B5EF4-FFF2-40B4-BE49-F238E27FC236}">
                <a16:creationId xmlns:a16="http://schemas.microsoft.com/office/drawing/2014/main" id="{DE6F0DA3-B46D-4A2B-B380-9D65B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515100"/>
            <a:ext cx="11715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F2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36" name="news-node-sentiment-text">
            <a:extLst xmlns:a="http://schemas.openxmlformats.org/drawingml/2006/main">
              <a:ext uri="{FF2B5EF4-FFF2-40B4-BE49-F238E27FC236}">
                <a16:creationId xmlns:a16="http://schemas.microsoft.com/office/drawing/2014/main" id="{7F53D747-771F-4D91-9410-2EC612B0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6600825"/>
            <a:ext cx="1057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029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Expanding</a:t>
            </a:r>
          </a:p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OOS</a:t>
            </a:r>
          </a:p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sentiment</a:t>
            </a:r>
          </a:p>
        </p:txBody>
      </p:sp>
      <p:sp>
        <p:nvSpPr>
          <p:cNvPr id="37" name="news-note">
            <a:extLst xmlns:a="http://schemas.openxmlformats.org/drawingml/2006/main">
              <a:ext uri="{FF2B5EF4-FFF2-40B4-BE49-F238E27FC236}">
                <a16:creationId xmlns:a16="http://schemas.microsoft.com/office/drawing/2014/main" id="{4E0984ED-4BEE-4DD8-A7E5-B7D99836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961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Sentiment is generated without using labels from the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subsequent forecasting period.</a:t>
            </a:r>
          </a:p>
        </p:txBody>
      </p:sp>
      <p:sp>
        <p:nvSpPr>
          <p:cNvPr id="38" name="outer-folds-panel">
            <a:extLst xmlns:a="http://schemas.openxmlformats.org/drawingml/2006/main">
              <a:ext uri="{FF2B5EF4-FFF2-40B4-BE49-F238E27FC236}">
                <a16:creationId xmlns:a16="http://schemas.microsoft.com/office/drawing/2014/main" id="{2E0E0D1F-01E9-490B-ABFA-DC8296CE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933450"/>
            <a:ext cx="10477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2383">
            <a:solidFill>
              <a:srgbClr val="626262"/>
            </a:solidFill>
            <a:prstDash val="solid"/>
          </a:ln>
        </p:spPr>
      </p:sp>
      <p:sp>
        <p:nvSpPr>
          <p:cNvPr id="39" name="outer-folds-title">
            <a:extLst xmlns:a="http://schemas.openxmlformats.org/drawingml/2006/main">
              <a:ext uri="{FF2B5EF4-FFF2-40B4-BE49-F238E27FC236}">
                <a16:creationId xmlns:a16="http://schemas.microsoft.com/office/drawing/2014/main" id="{15B24213-06D1-4297-B666-108A9381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095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Expanding-window outer folds</a:t>
            </a:r>
          </a:p>
        </p:txBody>
      </p:sp>
      <p:sp>
        <p:nvSpPr>
          <p:cNvPr id="40" name="outer-folds-note">
            <a:extLst xmlns:a="http://schemas.openxmlformats.org/drawingml/2006/main">
              <a:ext uri="{FF2B5EF4-FFF2-40B4-BE49-F238E27FC236}">
                <a16:creationId xmlns:a16="http://schemas.microsoft.com/office/drawing/2014/main" id="{87BBC546-1A0F-49FA-A47C-68BD5D2F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133475"/>
            <a:ext cx="3171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Train-only transforms; purged labels</a:t>
            </a:r>
          </a:p>
        </p:txBody>
      </p:sp>
      <p:sp>
        <p:nvSpPr>
          <p:cNvPr id="41" name="pit-contract">
            <a:extLst xmlns:a="http://schemas.openxmlformats.org/drawingml/2006/main">
              <a:ext uri="{FF2B5EF4-FFF2-40B4-BE49-F238E27FC236}">
                <a16:creationId xmlns:a16="http://schemas.microsoft.com/office/drawing/2014/main" id="{DFBDBC18-E070-44ED-B9B1-9D627A7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47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Features through day t → predict day t+1 → observe the label after day t+1</a:t>
            </a:r>
          </a:p>
        </p:txBody>
      </p:sp>
      <p:sp>
        <p:nvSpPr>
          <p:cNvPr id="42" name="fold-label-2022">
            <a:extLst xmlns:a="http://schemas.openxmlformats.org/drawingml/2006/main">
              <a:ext uri="{FF2B5EF4-FFF2-40B4-BE49-F238E27FC236}">
                <a16:creationId xmlns:a16="http://schemas.microsoft.com/office/drawing/2014/main" id="{6ED95D5F-EF75-4A24-9D1E-6E4EAB87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90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Outer 2022</a:t>
            </a:r>
          </a:p>
        </p:txBody>
      </p:sp>
      <p:sp>
        <p:nvSpPr>
          <p:cNvPr id="43" name="fold-2022-cell-2012">
            <a:extLst xmlns:a="http://schemas.openxmlformats.org/drawingml/2006/main">
              <a:ext uri="{FF2B5EF4-FFF2-40B4-BE49-F238E27FC236}">
                <a16:creationId xmlns:a16="http://schemas.microsoft.com/office/drawing/2014/main" id="{676ECD69-5ED4-409F-B091-465360C6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44" name="fold-2022-cell-2013">
            <a:extLst xmlns:a="http://schemas.openxmlformats.org/drawingml/2006/main">
              <a:ext uri="{FF2B5EF4-FFF2-40B4-BE49-F238E27FC236}">
                <a16:creationId xmlns:a16="http://schemas.microsoft.com/office/drawing/2014/main" id="{1A08FFEE-0A17-4406-859F-53D5C0ED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45" name="fold-2022-cell-2014">
            <a:extLst xmlns:a="http://schemas.openxmlformats.org/drawingml/2006/main">
              <a:ext uri="{FF2B5EF4-FFF2-40B4-BE49-F238E27FC236}">
                <a16:creationId xmlns:a16="http://schemas.microsoft.com/office/drawing/2014/main" id="{E3F51CB9-17B9-4119-8840-27968D74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46" name="fold-2022-cell-2015">
            <a:extLst xmlns:a="http://schemas.openxmlformats.org/drawingml/2006/main">
              <a:ext uri="{FF2B5EF4-FFF2-40B4-BE49-F238E27FC236}">
                <a16:creationId xmlns:a16="http://schemas.microsoft.com/office/drawing/2014/main" id="{26C2B47B-0718-439F-A998-8365C10C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47" name="fold-2022-cell-2016">
            <a:extLst xmlns:a="http://schemas.openxmlformats.org/drawingml/2006/main">
              <a:ext uri="{FF2B5EF4-FFF2-40B4-BE49-F238E27FC236}">
                <a16:creationId xmlns:a16="http://schemas.microsoft.com/office/drawing/2014/main" id="{3C38C1B2-9F50-4F1B-AC3F-EAC01979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48" name="fold-2022-cell-2017">
            <a:extLst xmlns:a="http://schemas.openxmlformats.org/drawingml/2006/main">
              <a:ext uri="{FF2B5EF4-FFF2-40B4-BE49-F238E27FC236}">
                <a16:creationId xmlns:a16="http://schemas.microsoft.com/office/drawing/2014/main" id="{F73F2B1A-A4C2-404D-A30C-74CA2FFB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49" name="fold-2022-cell-2018">
            <a:extLst xmlns:a="http://schemas.openxmlformats.org/drawingml/2006/main">
              <a:ext uri="{FF2B5EF4-FFF2-40B4-BE49-F238E27FC236}">
                <a16:creationId xmlns:a16="http://schemas.microsoft.com/office/drawing/2014/main" id="{1F2C6317-8307-4FC8-A336-607D0A8D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50" name="fold-2022-cell-2019">
            <a:extLst xmlns:a="http://schemas.openxmlformats.org/drawingml/2006/main">
              <a:ext uri="{FF2B5EF4-FFF2-40B4-BE49-F238E27FC236}">
                <a16:creationId xmlns:a16="http://schemas.microsoft.com/office/drawing/2014/main" id="{381E89FB-1AB0-4A64-BF6E-2F60B813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51" name="fold-2022-cell-2020">
            <a:extLst xmlns:a="http://schemas.openxmlformats.org/drawingml/2006/main">
              <a:ext uri="{FF2B5EF4-FFF2-40B4-BE49-F238E27FC236}">
                <a16:creationId xmlns:a16="http://schemas.microsoft.com/office/drawing/2014/main" id="{C70E2B3B-6350-4AC9-86A5-54F5E8B8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52" name="fold-2022-cell-2021">
            <a:extLst xmlns:a="http://schemas.openxmlformats.org/drawingml/2006/main">
              <a:ext uri="{FF2B5EF4-FFF2-40B4-BE49-F238E27FC236}">
                <a16:creationId xmlns:a16="http://schemas.microsoft.com/office/drawing/2014/main" id="{7F7D1B5F-8D14-4124-B7CC-94E93E63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53" name="fold-2022-cell-2022">
            <a:extLst xmlns:a="http://schemas.openxmlformats.org/drawingml/2006/main">
              <a:ext uri="{FF2B5EF4-FFF2-40B4-BE49-F238E27FC236}">
                <a16:creationId xmlns:a16="http://schemas.microsoft.com/office/drawing/2014/main" id="{909517B8-9B89-4C0A-89B8-8739C4A0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F2"/>
          </a:solidFill>
          <a:ln xmlns:a="http://schemas.openxmlformats.org/drawingml/2006/main" w="14288">
            <a:solidFill>
              <a:srgbClr val="5D7487"/>
            </a:solidFill>
            <a:prstDash val="solid"/>
          </a:ln>
        </p:spPr>
      </p:sp>
      <p:sp>
        <p:nvSpPr>
          <p:cNvPr id="54" name="fold-2022-cell-2023">
            <a:extLst xmlns:a="http://schemas.openxmlformats.org/drawingml/2006/main">
              <a:ext uri="{FF2B5EF4-FFF2-40B4-BE49-F238E27FC236}">
                <a16:creationId xmlns:a16="http://schemas.microsoft.com/office/drawing/2014/main" id="{75F60E5B-A9F0-4569-A690-0D0079E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C7C7C7"/>
            </a:solidFill>
            <a:prstDash val="solid"/>
          </a:ln>
        </p:spPr>
      </p:sp>
      <p:sp>
        <p:nvSpPr>
          <p:cNvPr id="55" name="fold-2022-cell-2024">
            <a:extLst xmlns:a="http://schemas.openxmlformats.org/drawingml/2006/main">
              <a:ext uri="{FF2B5EF4-FFF2-40B4-BE49-F238E27FC236}">
                <a16:creationId xmlns:a16="http://schemas.microsoft.com/office/drawing/2014/main" id="{B5279D6B-5491-45A3-8163-D783DCC7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C7C7C7"/>
            </a:solidFill>
            <a:prstDash val="solid"/>
          </a:ln>
        </p:spPr>
      </p:sp>
      <p:sp>
        <p:nvSpPr>
          <p:cNvPr id="56" name="fold-2022-cell-2025">
            <a:extLst xmlns:a="http://schemas.openxmlformats.org/drawingml/2006/main">
              <a:ext uri="{FF2B5EF4-FFF2-40B4-BE49-F238E27FC236}">
                <a16:creationId xmlns:a16="http://schemas.microsoft.com/office/drawing/2014/main" id="{AA22087A-167B-4784-AD31-1D6CCF40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176212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C7C7C7"/>
            </a:solidFill>
            <a:prstDash val="solid"/>
          </a:ln>
        </p:spPr>
      </p:sp>
      <p:sp>
        <p:nvSpPr>
          <p:cNvPr id="57" name="fold-label-2023">
            <a:extLst xmlns:a="http://schemas.openxmlformats.org/drawingml/2006/main">
              <a:ext uri="{FF2B5EF4-FFF2-40B4-BE49-F238E27FC236}">
                <a16:creationId xmlns:a16="http://schemas.microsoft.com/office/drawing/2014/main" id="{8DECC2B9-6FB7-4D06-8349-A4D8372E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240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Outer 2023</a:t>
            </a:r>
          </a:p>
        </p:txBody>
      </p:sp>
      <p:sp>
        <p:nvSpPr>
          <p:cNvPr id="58" name="fold-2023-cell-2012">
            <a:extLst xmlns:a="http://schemas.openxmlformats.org/drawingml/2006/main">
              <a:ext uri="{FF2B5EF4-FFF2-40B4-BE49-F238E27FC236}">
                <a16:creationId xmlns:a16="http://schemas.microsoft.com/office/drawing/2014/main" id="{88FB5710-9E2B-4647-BAFC-F33D07DE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59" name="fold-2023-cell-2013">
            <a:extLst xmlns:a="http://schemas.openxmlformats.org/drawingml/2006/main">
              <a:ext uri="{FF2B5EF4-FFF2-40B4-BE49-F238E27FC236}">
                <a16:creationId xmlns:a16="http://schemas.microsoft.com/office/drawing/2014/main" id="{3C0ABFE3-C1A3-4EE8-AF93-173C84E3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60" name="fold-2023-cell-2014">
            <a:extLst xmlns:a="http://schemas.openxmlformats.org/drawingml/2006/main">
              <a:ext uri="{FF2B5EF4-FFF2-40B4-BE49-F238E27FC236}">
                <a16:creationId xmlns:a16="http://schemas.microsoft.com/office/drawing/2014/main" id="{B2D10559-7EC8-440F-9A2A-63692101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61" name="fold-2023-cell-2015">
            <a:extLst xmlns:a="http://schemas.openxmlformats.org/drawingml/2006/main">
              <a:ext uri="{FF2B5EF4-FFF2-40B4-BE49-F238E27FC236}">
                <a16:creationId xmlns:a16="http://schemas.microsoft.com/office/drawing/2014/main" id="{C016726F-2E94-478C-99DA-92D974D3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62" name="fold-2023-cell-2016">
            <a:extLst xmlns:a="http://schemas.openxmlformats.org/drawingml/2006/main">
              <a:ext uri="{FF2B5EF4-FFF2-40B4-BE49-F238E27FC236}">
                <a16:creationId xmlns:a16="http://schemas.microsoft.com/office/drawing/2014/main" id="{C4A0165D-0D11-40A8-83A1-14C7F465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63" name="fold-2023-cell-2017">
            <a:extLst xmlns:a="http://schemas.openxmlformats.org/drawingml/2006/main">
              <a:ext uri="{FF2B5EF4-FFF2-40B4-BE49-F238E27FC236}">
                <a16:creationId xmlns:a16="http://schemas.microsoft.com/office/drawing/2014/main" id="{61B9B3CF-584B-4445-A3C5-A815BE15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64" name="fold-2023-cell-2018">
            <a:extLst xmlns:a="http://schemas.openxmlformats.org/drawingml/2006/main">
              <a:ext uri="{FF2B5EF4-FFF2-40B4-BE49-F238E27FC236}">
                <a16:creationId xmlns:a16="http://schemas.microsoft.com/office/drawing/2014/main" id="{C5D4FA9C-9245-48A2-B26F-6B176DF6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65" name="fold-2023-cell-2019">
            <a:extLst xmlns:a="http://schemas.openxmlformats.org/drawingml/2006/main">
              <a:ext uri="{FF2B5EF4-FFF2-40B4-BE49-F238E27FC236}">
                <a16:creationId xmlns:a16="http://schemas.microsoft.com/office/drawing/2014/main" id="{8D4E4AED-EC79-4FD0-87C9-121EE666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66" name="fold-2023-cell-2020">
            <a:extLst xmlns:a="http://schemas.openxmlformats.org/drawingml/2006/main">
              <a:ext uri="{FF2B5EF4-FFF2-40B4-BE49-F238E27FC236}">
                <a16:creationId xmlns:a16="http://schemas.microsoft.com/office/drawing/2014/main" id="{6B3970E9-7B40-43B7-885B-81480F7B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67" name="fold-2023-cell-2021">
            <a:extLst xmlns:a="http://schemas.openxmlformats.org/drawingml/2006/main">
              <a:ext uri="{FF2B5EF4-FFF2-40B4-BE49-F238E27FC236}">
                <a16:creationId xmlns:a16="http://schemas.microsoft.com/office/drawing/2014/main" id="{851FA26D-D968-487B-A331-D371CFC9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68" name="fold-2023-cell-2022">
            <a:extLst xmlns:a="http://schemas.openxmlformats.org/drawingml/2006/main">
              <a:ext uri="{FF2B5EF4-FFF2-40B4-BE49-F238E27FC236}">
                <a16:creationId xmlns:a16="http://schemas.microsoft.com/office/drawing/2014/main" id="{8491D653-3F92-4044-8899-740DB5BF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69" name="fold-2023-cell-2023">
            <a:extLst xmlns:a="http://schemas.openxmlformats.org/drawingml/2006/main">
              <a:ext uri="{FF2B5EF4-FFF2-40B4-BE49-F238E27FC236}">
                <a16:creationId xmlns:a16="http://schemas.microsoft.com/office/drawing/2014/main" id="{7ABC3A5D-3E4B-4870-8C86-44E0E5AC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F2"/>
          </a:solidFill>
          <a:ln xmlns:a="http://schemas.openxmlformats.org/drawingml/2006/main" w="14288">
            <a:solidFill>
              <a:srgbClr val="5D7487"/>
            </a:solidFill>
            <a:prstDash val="solid"/>
          </a:ln>
        </p:spPr>
      </p:sp>
      <p:sp>
        <p:nvSpPr>
          <p:cNvPr id="70" name="fold-2023-cell-2024">
            <a:extLst xmlns:a="http://schemas.openxmlformats.org/drawingml/2006/main">
              <a:ext uri="{FF2B5EF4-FFF2-40B4-BE49-F238E27FC236}">
                <a16:creationId xmlns:a16="http://schemas.microsoft.com/office/drawing/2014/main" id="{E785E60A-DBBB-4EA0-BB28-3504FE6A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C7C7C7"/>
            </a:solidFill>
            <a:prstDash val="solid"/>
          </a:ln>
        </p:spPr>
      </p:sp>
      <p:sp>
        <p:nvSpPr>
          <p:cNvPr id="71" name="fold-2023-cell-2025">
            <a:extLst xmlns:a="http://schemas.openxmlformats.org/drawingml/2006/main">
              <a:ext uri="{FF2B5EF4-FFF2-40B4-BE49-F238E27FC236}">
                <a16:creationId xmlns:a16="http://schemas.microsoft.com/office/drawing/2014/main" id="{3C1F3DAC-CF69-43DD-876C-D2434204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209550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C7C7C7"/>
            </a:solidFill>
            <a:prstDash val="solid"/>
          </a:ln>
        </p:spPr>
      </p:sp>
      <p:sp>
        <p:nvSpPr>
          <p:cNvPr id="72" name="fold-label-2024">
            <a:extLst xmlns:a="http://schemas.openxmlformats.org/drawingml/2006/main">
              <a:ext uri="{FF2B5EF4-FFF2-40B4-BE49-F238E27FC236}">
                <a16:creationId xmlns:a16="http://schemas.microsoft.com/office/drawing/2014/main" id="{8F1C5FBD-49CB-438B-9CCC-EF00238E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57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Outer 2024</a:t>
            </a:r>
          </a:p>
        </p:txBody>
      </p:sp>
      <p:sp>
        <p:nvSpPr>
          <p:cNvPr id="73" name="fold-2024-cell-2012">
            <a:extLst xmlns:a="http://schemas.openxmlformats.org/drawingml/2006/main">
              <a:ext uri="{FF2B5EF4-FFF2-40B4-BE49-F238E27FC236}">
                <a16:creationId xmlns:a16="http://schemas.microsoft.com/office/drawing/2014/main" id="{8F5FB2DE-A8D3-4EB5-A5CA-549C30DF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74" name="fold-2024-cell-2013">
            <a:extLst xmlns:a="http://schemas.openxmlformats.org/drawingml/2006/main">
              <a:ext uri="{FF2B5EF4-FFF2-40B4-BE49-F238E27FC236}">
                <a16:creationId xmlns:a16="http://schemas.microsoft.com/office/drawing/2014/main" id="{9813B1D0-7A33-4364-BC16-BF7DCD5D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75" name="fold-2024-cell-2014">
            <a:extLst xmlns:a="http://schemas.openxmlformats.org/drawingml/2006/main">
              <a:ext uri="{FF2B5EF4-FFF2-40B4-BE49-F238E27FC236}">
                <a16:creationId xmlns:a16="http://schemas.microsoft.com/office/drawing/2014/main" id="{837C9340-755F-4F24-94E9-AF49E8EC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76" name="fold-2024-cell-2015">
            <a:extLst xmlns:a="http://schemas.openxmlformats.org/drawingml/2006/main">
              <a:ext uri="{FF2B5EF4-FFF2-40B4-BE49-F238E27FC236}">
                <a16:creationId xmlns:a16="http://schemas.microsoft.com/office/drawing/2014/main" id="{8BE40FCE-0008-417D-817E-3BEBEBF6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77" name="fold-2024-cell-2016">
            <a:extLst xmlns:a="http://schemas.openxmlformats.org/drawingml/2006/main">
              <a:ext uri="{FF2B5EF4-FFF2-40B4-BE49-F238E27FC236}">
                <a16:creationId xmlns:a16="http://schemas.microsoft.com/office/drawing/2014/main" id="{3753F72F-9E6E-4402-B99B-BABB75CA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78" name="fold-2024-cell-2017">
            <a:extLst xmlns:a="http://schemas.openxmlformats.org/drawingml/2006/main">
              <a:ext uri="{FF2B5EF4-FFF2-40B4-BE49-F238E27FC236}">
                <a16:creationId xmlns:a16="http://schemas.microsoft.com/office/drawing/2014/main" id="{8ADB11CD-ABFD-42B6-A22D-49CA389B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79" name="fold-2024-cell-2018">
            <a:extLst xmlns:a="http://schemas.openxmlformats.org/drawingml/2006/main">
              <a:ext uri="{FF2B5EF4-FFF2-40B4-BE49-F238E27FC236}">
                <a16:creationId xmlns:a16="http://schemas.microsoft.com/office/drawing/2014/main" id="{2B1B57DB-C716-4B1E-86CF-F3B09AAF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80" name="fold-2024-cell-2019">
            <a:extLst xmlns:a="http://schemas.openxmlformats.org/drawingml/2006/main">
              <a:ext uri="{FF2B5EF4-FFF2-40B4-BE49-F238E27FC236}">
                <a16:creationId xmlns:a16="http://schemas.microsoft.com/office/drawing/2014/main" id="{745D0048-DDEB-485E-B893-82FD6E55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81" name="fold-2024-cell-2020">
            <a:extLst xmlns:a="http://schemas.openxmlformats.org/drawingml/2006/main">
              <a:ext uri="{FF2B5EF4-FFF2-40B4-BE49-F238E27FC236}">
                <a16:creationId xmlns:a16="http://schemas.microsoft.com/office/drawing/2014/main" id="{74C59D25-FC8D-40C0-981A-BDED4985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82" name="fold-2024-cell-2021">
            <a:extLst xmlns:a="http://schemas.openxmlformats.org/drawingml/2006/main">
              <a:ext uri="{FF2B5EF4-FFF2-40B4-BE49-F238E27FC236}">
                <a16:creationId xmlns:a16="http://schemas.microsoft.com/office/drawing/2014/main" id="{470CDEFB-36B5-4AC6-AB41-224993E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83" name="fold-2024-cell-2022">
            <a:extLst xmlns:a="http://schemas.openxmlformats.org/drawingml/2006/main">
              <a:ext uri="{FF2B5EF4-FFF2-40B4-BE49-F238E27FC236}">
                <a16:creationId xmlns:a16="http://schemas.microsoft.com/office/drawing/2014/main" id="{1DE782FE-F929-451B-A6DA-C65390E8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84" name="fold-2024-cell-2023">
            <a:extLst xmlns:a="http://schemas.openxmlformats.org/drawingml/2006/main">
              <a:ext uri="{FF2B5EF4-FFF2-40B4-BE49-F238E27FC236}">
                <a16:creationId xmlns:a16="http://schemas.microsoft.com/office/drawing/2014/main" id="{8F82F1BA-570B-49C9-9C23-7D4F072B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85" name="fold-2024-cell-2024">
            <a:extLst xmlns:a="http://schemas.openxmlformats.org/drawingml/2006/main">
              <a:ext uri="{FF2B5EF4-FFF2-40B4-BE49-F238E27FC236}">
                <a16:creationId xmlns:a16="http://schemas.microsoft.com/office/drawing/2014/main" id="{73DCCA09-45B4-4C52-95DE-EDC9BC75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F2"/>
          </a:solidFill>
          <a:ln xmlns:a="http://schemas.openxmlformats.org/drawingml/2006/main" w="14288">
            <a:solidFill>
              <a:srgbClr val="5D7487"/>
            </a:solidFill>
            <a:prstDash val="solid"/>
          </a:ln>
        </p:spPr>
      </p:sp>
      <p:sp>
        <p:nvSpPr>
          <p:cNvPr id="86" name="fold-2024-cell-2025">
            <a:extLst xmlns:a="http://schemas.openxmlformats.org/drawingml/2006/main">
              <a:ext uri="{FF2B5EF4-FFF2-40B4-BE49-F238E27FC236}">
                <a16:creationId xmlns:a16="http://schemas.microsoft.com/office/drawing/2014/main" id="{985C1D12-0B7C-484B-9873-53AC75E0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2428875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C7C7C7"/>
            </a:solidFill>
            <a:prstDash val="solid"/>
          </a:ln>
        </p:spPr>
      </p:sp>
      <p:sp>
        <p:nvSpPr>
          <p:cNvPr id="87" name="fold-label-2025">
            <a:extLst xmlns:a="http://schemas.openxmlformats.org/drawingml/2006/main">
              <a:ext uri="{FF2B5EF4-FFF2-40B4-BE49-F238E27FC236}">
                <a16:creationId xmlns:a16="http://schemas.microsoft.com/office/drawing/2014/main" id="{33DD393B-FE6A-4602-80E6-5C590A99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908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Outer 2025</a:t>
            </a:r>
          </a:p>
        </p:txBody>
      </p:sp>
      <p:sp>
        <p:nvSpPr>
          <p:cNvPr id="88" name="fold-2025-cell-2012">
            <a:extLst xmlns:a="http://schemas.openxmlformats.org/drawingml/2006/main">
              <a:ext uri="{FF2B5EF4-FFF2-40B4-BE49-F238E27FC236}">
                <a16:creationId xmlns:a16="http://schemas.microsoft.com/office/drawing/2014/main" id="{4F208B83-FB03-4052-800C-4E82992E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89" name="fold-2025-cell-2013">
            <a:extLst xmlns:a="http://schemas.openxmlformats.org/drawingml/2006/main">
              <a:ext uri="{FF2B5EF4-FFF2-40B4-BE49-F238E27FC236}">
                <a16:creationId xmlns:a16="http://schemas.microsoft.com/office/drawing/2014/main" id="{2AE0DC15-4F04-4DA6-B5B7-4EB60BCF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90" name="fold-2025-cell-2014">
            <a:extLst xmlns:a="http://schemas.openxmlformats.org/drawingml/2006/main">
              <a:ext uri="{FF2B5EF4-FFF2-40B4-BE49-F238E27FC236}">
                <a16:creationId xmlns:a16="http://schemas.microsoft.com/office/drawing/2014/main" id="{E045B690-CFA5-441D-BE80-AB62EF57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91" name="fold-2025-cell-2015">
            <a:extLst xmlns:a="http://schemas.openxmlformats.org/drawingml/2006/main">
              <a:ext uri="{FF2B5EF4-FFF2-40B4-BE49-F238E27FC236}">
                <a16:creationId xmlns:a16="http://schemas.microsoft.com/office/drawing/2014/main" id="{20D4D594-D719-4DB8-B86A-10D231B6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92" name="fold-2025-cell-2016">
            <a:extLst xmlns:a="http://schemas.openxmlformats.org/drawingml/2006/main">
              <a:ext uri="{FF2B5EF4-FFF2-40B4-BE49-F238E27FC236}">
                <a16:creationId xmlns:a16="http://schemas.microsoft.com/office/drawing/2014/main" id="{86A9FE16-8672-43E1-BCD8-C1FB348A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93" name="fold-2025-cell-2017">
            <a:extLst xmlns:a="http://schemas.openxmlformats.org/drawingml/2006/main">
              <a:ext uri="{FF2B5EF4-FFF2-40B4-BE49-F238E27FC236}">
                <a16:creationId xmlns:a16="http://schemas.microsoft.com/office/drawing/2014/main" id="{F011CA81-921A-4C6D-A12B-AA50003D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94" name="fold-2025-cell-2018">
            <a:extLst xmlns:a="http://schemas.openxmlformats.org/drawingml/2006/main">
              <a:ext uri="{FF2B5EF4-FFF2-40B4-BE49-F238E27FC236}">
                <a16:creationId xmlns:a16="http://schemas.microsoft.com/office/drawing/2014/main" id="{482FF046-1922-4FF0-80FD-BF635C98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95" name="fold-2025-cell-2019">
            <a:extLst xmlns:a="http://schemas.openxmlformats.org/drawingml/2006/main">
              <a:ext uri="{FF2B5EF4-FFF2-40B4-BE49-F238E27FC236}">
                <a16:creationId xmlns:a16="http://schemas.microsoft.com/office/drawing/2014/main" id="{597D9C78-9FEA-44CF-B1FD-C1799A0D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96" name="fold-2025-cell-2020">
            <a:extLst xmlns:a="http://schemas.openxmlformats.org/drawingml/2006/main">
              <a:ext uri="{FF2B5EF4-FFF2-40B4-BE49-F238E27FC236}">
                <a16:creationId xmlns:a16="http://schemas.microsoft.com/office/drawing/2014/main" id="{154ECCCF-D331-444E-984B-57E749D0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97" name="fold-2025-cell-2021">
            <a:extLst xmlns:a="http://schemas.openxmlformats.org/drawingml/2006/main">
              <a:ext uri="{FF2B5EF4-FFF2-40B4-BE49-F238E27FC236}">
                <a16:creationId xmlns:a16="http://schemas.microsoft.com/office/drawing/2014/main" id="{109FD5D8-A81E-4281-9644-A39FDE81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98" name="fold-2025-cell-2022">
            <a:extLst xmlns:a="http://schemas.openxmlformats.org/drawingml/2006/main">
              <a:ext uri="{FF2B5EF4-FFF2-40B4-BE49-F238E27FC236}">
                <a16:creationId xmlns:a16="http://schemas.microsoft.com/office/drawing/2014/main" id="{D417BF9A-892F-4B9D-9AE1-2D0FEF2C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99" name="fold-2025-cell-2023">
            <a:extLst xmlns:a="http://schemas.openxmlformats.org/drawingml/2006/main">
              <a:ext uri="{FF2B5EF4-FFF2-40B4-BE49-F238E27FC236}">
                <a16:creationId xmlns:a16="http://schemas.microsoft.com/office/drawing/2014/main" id="{3DB49523-5C9F-486B-851A-B03E0CE8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100" name="fold-2025-cell-2024">
            <a:extLst xmlns:a="http://schemas.openxmlformats.org/drawingml/2006/main">
              <a:ext uri="{FF2B5EF4-FFF2-40B4-BE49-F238E27FC236}">
                <a16:creationId xmlns:a16="http://schemas.microsoft.com/office/drawing/2014/main" id="{2582A920-D453-4BEB-93A0-8D5A934D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101" name="fold-2025-cell-2025">
            <a:extLst xmlns:a="http://schemas.openxmlformats.org/drawingml/2006/main">
              <a:ext uri="{FF2B5EF4-FFF2-40B4-BE49-F238E27FC236}">
                <a16:creationId xmlns:a16="http://schemas.microsoft.com/office/drawing/2014/main" id="{A0F7967B-C487-42C7-83E1-56F686F5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2762250"/>
            <a:ext cx="6238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F2"/>
          </a:solidFill>
          <a:ln xmlns:a="http://schemas.openxmlformats.org/drawingml/2006/main" w="14288">
            <a:solidFill>
              <a:srgbClr val="5D7487"/>
            </a:solidFill>
            <a:prstDash val="solid"/>
          </a:ln>
        </p:spPr>
      </p:sp>
      <p:sp>
        <p:nvSpPr>
          <p:cNvPr id="102" name="fold-axis-2012">
            <a:extLst xmlns:a="http://schemas.openxmlformats.org/drawingml/2006/main">
              <a:ext uri="{FF2B5EF4-FFF2-40B4-BE49-F238E27FC236}">
                <a16:creationId xmlns:a16="http://schemas.microsoft.com/office/drawing/2014/main" id="{72BE9C76-1E03-4973-881E-681880BF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67050"/>
            <a:ext cx="7000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2012</a:t>
            </a:r>
          </a:p>
        </p:txBody>
      </p:sp>
      <p:sp>
        <p:nvSpPr>
          <p:cNvPr id="103" name="fold-axis-2015">
            <a:extLst xmlns:a="http://schemas.openxmlformats.org/drawingml/2006/main">
              <a:ext uri="{FF2B5EF4-FFF2-40B4-BE49-F238E27FC236}">
                <a16:creationId xmlns:a16="http://schemas.microsoft.com/office/drawing/2014/main" id="{E7A3DA1B-F643-45AE-AF3D-78D1FE4A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7000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2015</a:t>
            </a:r>
          </a:p>
        </p:txBody>
      </p:sp>
      <p:sp>
        <p:nvSpPr>
          <p:cNvPr id="104" name="fold-axis-2018">
            <a:extLst xmlns:a="http://schemas.openxmlformats.org/drawingml/2006/main">
              <a:ext uri="{FF2B5EF4-FFF2-40B4-BE49-F238E27FC236}">
                <a16:creationId xmlns:a16="http://schemas.microsoft.com/office/drawing/2014/main" id="{084F647B-5497-4A02-994C-16A8DBC2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067050"/>
            <a:ext cx="7000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2018</a:t>
            </a:r>
          </a:p>
        </p:txBody>
      </p:sp>
      <p:sp>
        <p:nvSpPr>
          <p:cNvPr id="105" name="fold-axis-2021">
            <a:extLst xmlns:a="http://schemas.openxmlformats.org/drawingml/2006/main">
              <a:ext uri="{FF2B5EF4-FFF2-40B4-BE49-F238E27FC236}">
                <a16:creationId xmlns:a16="http://schemas.microsoft.com/office/drawing/2014/main" id="{E46B4CAF-90CF-430E-9B7B-441E7A61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067050"/>
            <a:ext cx="7000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2021</a:t>
            </a:r>
          </a:p>
        </p:txBody>
      </p:sp>
      <p:sp>
        <p:nvSpPr>
          <p:cNvPr id="106" name="fold-axis-2022">
            <a:extLst xmlns:a="http://schemas.openxmlformats.org/drawingml/2006/main">
              <a:ext uri="{FF2B5EF4-FFF2-40B4-BE49-F238E27FC236}">
                <a16:creationId xmlns:a16="http://schemas.microsoft.com/office/drawing/2014/main" id="{AD5CA002-FED4-4A83-B649-E089A25F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3067050"/>
            <a:ext cx="7000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2022</a:t>
            </a:r>
          </a:p>
        </p:txBody>
      </p:sp>
      <p:sp>
        <p:nvSpPr>
          <p:cNvPr id="107" name="fold-axis-2023">
            <a:extLst xmlns:a="http://schemas.openxmlformats.org/drawingml/2006/main">
              <a:ext uri="{FF2B5EF4-FFF2-40B4-BE49-F238E27FC236}">
                <a16:creationId xmlns:a16="http://schemas.microsoft.com/office/drawing/2014/main" id="{0F38C966-ED48-4665-B2D5-5BDB2B83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067050"/>
            <a:ext cx="7000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108" name="fold-axis-2024">
            <a:extLst xmlns:a="http://schemas.openxmlformats.org/drawingml/2006/main">
              <a:ext uri="{FF2B5EF4-FFF2-40B4-BE49-F238E27FC236}">
                <a16:creationId xmlns:a16="http://schemas.microsoft.com/office/drawing/2014/main" id="{A207A2DE-DFA0-4B84-8598-CBDB6D6C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067050"/>
            <a:ext cx="7000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2024</a:t>
            </a:r>
          </a:p>
        </p:txBody>
      </p:sp>
      <p:sp>
        <p:nvSpPr>
          <p:cNvPr id="109" name="fold-axis-2025">
            <a:extLst xmlns:a="http://schemas.openxmlformats.org/drawingml/2006/main">
              <a:ext uri="{FF2B5EF4-FFF2-40B4-BE49-F238E27FC236}">
                <a16:creationId xmlns:a16="http://schemas.microsoft.com/office/drawing/2014/main" id="{FB194932-BEED-4B09-808B-DD0FECE3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3067050"/>
            <a:ext cx="7000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2025</a:t>
            </a:r>
          </a:p>
        </p:txBody>
      </p:sp>
      <p:sp>
        <p:nvSpPr>
          <p:cNvPr id="110" name="legend-train-swatch">
            <a:extLst xmlns:a="http://schemas.openxmlformats.org/drawingml/2006/main">
              <a:ext uri="{FF2B5EF4-FFF2-40B4-BE49-F238E27FC236}">
                <a16:creationId xmlns:a16="http://schemas.microsoft.com/office/drawing/2014/main" id="{F9F90E5B-B766-4435-9D45-65654EA1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228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8573">
            <a:solidFill>
              <a:srgbClr val="87967B"/>
            </a:solidFill>
            <a:prstDash val="solid"/>
          </a:ln>
        </p:spPr>
      </p:sp>
      <p:sp>
        <p:nvSpPr>
          <p:cNvPr id="111" name="legend-train-text">
            <a:extLst xmlns:a="http://schemas.openxmlformats.org/drawingml/2006/main">
              <a:ext uri="{FF2B5EF4-FFF2-40B4-BE49-F238E27FC236}">
                <a16:creationId xmlns:a16="http://schemas.microsoft.com/office/drawing/2014/main" id="{C7A76192-B2E5-4BEB-9A57-89079FF5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0517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expanding training data</a:t>
            </a:r>
          </a:p>
        </p:txBody>
      </p:sp>
      <p:sp>
        <p:nvSpPr>
          <p:cNvPr id="112" name="legend-test-swatch">
            <a:extLst xmlns:a="http://schemas.openxmlformats.org/drawingml/2006/main">
              <a:ext uri="{FF2B5EF4-FFF2-40B4-BE49-F238E27FC236}">
                <a16:creationId xmlns:a16="http://schemas.microsoft.com/office/drawing/2014/main" id="{8B7C89D0-3799-4872-B220-C7DAF796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52800"/>
            <a:ext cx="228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F2"/>
          </a:solidFill>
          <a:ln xmlns:a="http://schemas.openxmlformats.org/drawingml/2006/main" w="11430">
            <a:solidFill>
              <a:srgbClr val="5D7487"/>
            </a:solidFill>
            <a:prstDash val="solid"/>
          </a:ln>
        </p:spPr>
      </p:sp>
      <p:sp>
        <p:nvSpPr>
          <p:cNvPr id="113" name="legend-test-text">
            <a:extLst xmlns:a="http://schemas.openxmlformats.org/drawingml/2006/main">
              <a:ext uri="{FF2B5EF4-FFF2-40B4-BE49-F238E27FC236}">
                <a16:creationId xmlns:a16="http://schemas.microsoft.com/office/drawing/2014/main" id="{11928368-FCBC-4151-BE24-B62B2804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30517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held-out test year</a:t>
            </a:r>
          </a:p>
        </p:txBody>
      </p:sp>
      <p:sp>
        <p:nvSpPr>
          <p:cNvPr id="114" name="arrow-folds-to-audits">
            <a:extLst xmlns:a="http://schemas.openxmlformats.org/drawingml/2006/main">
              <a:ext uri="{FF2B5EF4-FFF2-40B4-BE49-F238E27FC236}">
                <a16:creationId xmlns:a16="http://schemas.microsoft.com/office/drawing/2014/main" id="{8B342E0F-A5C0-4984-9535-3849DCFC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14725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115" name="audit-vmd-panel">
            <a:extLst xmlns:a="http://schemas.openxmlformats.org/drawingml/2006/main">
              <a:ext uri="{FF2B5EF4-FFF2-40B4-BE49-F238E27FC236}">
                <a16:creationId xmlns:a16="http://schemas.microsoft.com/office/drawing/2014/main" id="{775C7E64-A716-4662-BDD4-6CA8583D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52850"/>
            <a:ext cx="5172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12383">
            <a:solidFill>
              <a:srgbClr val="626262"/>
            </a:solidFill>
            <a:prstDash val="solid"/>
          </a:ln>
        </p:spPr>
      </p:sp>
      <p:sp>
        <p:nvSpPr>
          <p:cNvPr id="116" name="audit-vmd-title">
            <a:extLst xmlns:a="http://schemas.openxmlformats.org/drawingml/2006/main">
              <a:ext uri="{FF2B5EF4-FFF2-40B4-BE49-F238E27FC236}">
                <a16:creationId xmlns:a16="http://schemas.microsoft.com/office/drawing/2014/main" id="{23300971-5A65-4B13-9189-F3948A53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862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Causal VMD</a:t>
            </a:r>
          </a:p>
        </p:txBody>
      </p:sp>
      <p:sp>
        <p:nvSpPr>
          <p:cNvPr id="117" name="audit-vmd-body">
            <a:extLst xmlns:a="http://schemas.openxmlformats.org/drawingml/2006/main">
              <a:ext uri="{FF2B5EF4-FFF2-40B4-BE49-F238E27FC236}">
                <a16:creationId xmlns:a16="http://schemas.microsoft.com/office/drawing/2014/main" id="{C68D5077-6FED-458F-ACBA-4423FF5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29100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Rolling 60-day decomposition versus matched technical inputs.</a:t>
            </a:r>
          </a:p>
        </p:txBody>
      </p:sp>
      <p:sp>
        <p:nvSpPr>
          <p:cNvPr id="118" name="audit-news-llm-panel">
            <a:extLst xmlns:a="http://schemas.openxmlformats.org/drawingml/2006/main">
              <a:ext uri="{FF2B5EF4-FFF2-40B4-BE49-F238E27FC236}">
                <a16:creationId xmlns:a16="http://schemas.microsoft.com/office/drawing/2014/main" id="{0825FE9A-8744-4D56-AC37-B1E87FF7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752850"/>
            <a:ext cx="5172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12383">
            <a:solidFill>
              <a:srgbClr val="626262"/>
            </a:solidFill>
            <a:prstDash val="solid"/>
          </a:ln>
        </p:spPr>
      </p:sp>
      <p:sp>
        <p:nvSpPr>
          <p:cNvPr id="119" name="audit-news-llm-title">
            <a:extLst xmlns:a="http://schemas.openxmlformats.org/drawingml/2006/main">
              <a:ext uri="{FF2B5EF4-FFF2-40B4-BE49-F238E27FC236}">
                <a16:creationId xmlns:a16="http://schemas.microsoft.com/office/drawing/2014/main" id="{FF02B256-AE67-4F65-B9C0-3E2AEF89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38862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News and LLM</a:t>
            </a:r>
          </a:p>
        </p:txBody>
      </p:sp>
      <p:sp>
        <p:nvSpPr>
          <p:cNvPr id="120" name="audit-news-llm-body">
            <a:extLst xmlns:a="http://schemas.openxmlformats.org/drawingml/2006/main">
              <a:ext uri="{FF2B5EF4-FFF2-40B4-BE49-F238E27FC236}">
                <a16:creationId xmlns:a16="http://schemas.microsoft.com/office/drawing/2014/main" id="{18EDD323-944F-4DDA-A501-12F0EEF5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422910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63"/>
          </a:bodyPr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Downstream controls and a separate Bull/Bear/Leader sentiment</a:t>
            </a:r>
          </a:p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audit.</a:t>
            </a:r>
          </a:p>
        </p:txBody>
      </p:sp>
      <p:sp>
        <p:nvSpPr>
          <p:cNvPr id="121" name="audit-regime-xai-panel">
            <a:extLst xmlns:a="http://schemas.openxmlformats.org/drawingml/2006/main">
              <a:ext uri="{FF2B5EF4-FFF2-40B4-BE49-F238E27FC236}">
                <a16:creationId xmlns:a16="http://schemas.microsoft.com/office/drawing/2014/main" id="{80FF82BC-E897-4AF1-A64B-2515753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48225"/>
            <a:ext cx="51720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12383">
            <a:solidFill>
              <a:srgbClr val="626262"/>
            </a:solidFill>
            <a:prstDash val="solid"/>
          </a:ln>
        </p:spPr>
      </p:sp>
      <p:sp>
        <p:nvSpPr>
          <p:cNvPr id="122" name="audit-regime-xai-title">
            <a:extLst xmlns:a="http://schemas.openxmlformats.org/drawingml/2006/main">
              <a:ext uri="{FF2B5EF4-FFF2-40B4-BE49-F238E27FC236}">
                <a16:creationId xmlns:a16="http://schemas.microsoft.com/office/drawing/2014/main" id="{7BD62442-43C5-44B0-8DC5-4565DCFB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8157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Regime and XAI</a:t>
            </a:r>
          </a:p>
        </p:txBody>
      </p:sp>
      <p:sp>
        <p:nvSpPr>
          <p:cNvPr id="123" name="audit-regime-xai-body">
            <a:extLst xmlns:a="http://schemas.openxmlformats.org/drawingml/2006/main">
              <a:ext uri="{FF2B5EF4-FFF2-40B4-BE49-F238E27FC236}">
                <a16:creationId xmlns:a16="http://schemas.microsoft.com/office/drawing/2014/main" id="{37FCA6B6-90AA-488D-9F4F-BB15FAF6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24475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63"/>
          </a:bodyPr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Causal Bull/Sideway/Bear routing, train-only SHAP and LIME</a:t>
            </a:r>
          </a:p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fidelity.</a:t>
            </a:r>
          </a:p>
        </p:txBody>
      </p:sp>
      <p:sp>
        <p:nvSpPr>
          <p:cNvPr id="124" name="audit-forward-transfer-panel">
            <a:extLst xmlns:a="http://schemas.openxmlformats.org/drawingml/2006/main">
              <a:ext uri="{FF2B5EF4-FFF2-40B4-BE49-F238E27FC236}">
                <a16:creationId xmlns:a16="http://schemas.microsoft.com/office/drawing/2014/main" id="{34F6AFCB-B46C-4F14-B1C3-4A6BD123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48225"/>
            <a:ext cx="51720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2383">
            <a:solidFill>
              <a:srgbClr val="626262"/>
            </a:solidFill>
            <a:prstDash val="solid"/>
          </a:ln>
        </p:spPr>
      </p:sp>
      <p:sp>
        <p:nvSpPr>
          <p:cNvPr id="125" name="audit-forward-transfer-title">
            <a:extLst xmlns:a="http://schemas.openxmlformats.org/drawingml/2006/main">
              <a:ext uri="{FF2B5EF4-FFF2-40B4-BE49-F238E27FC236}">
                <a16:creationId xmlns:a16="http://schemas.microsoft.com/office/drawing/2014/main" id="{FF72DC3F-ED22-422B-9C28-1DE8DEAB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498157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Forward and transfer</a:t>
            </a:r>
          </a:p>
        </p:txBody>
      </p:sp>
      <p:sp>
        <p:nvSpPr>
          <p:cNvPr id="126" name="audit-forward-transfer-body">
            <a:extLst xmlns:a="http://schemas.openxmlformats.org/drawingml/2006/main">
              <a:ext uri="{FF2B5EF4-FFF2-40B4-BE49-F238E27FC236}">
                <a16:creationId xmlns:a16="http://schemas.microsoft.com/office/drawing/2014/main" id="{015ADFD8-BAF6-4E17-AB70-696932E5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32447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Partial-2026 stress testing and frozen SET100 evaluation.</a:t>
            </a:r>
          </a:p>
        </p:txBody>
      </p:sp>
      <p:sp>
        <p:nvSpPr>
          <p:cNvPr id="127" name="arrow-audits-to-models">
            <a:extLst xmlns:a="http://schemas.openxmlformats.org/drawingml/2006/main">
              <a:ext uri="{FF2B5EF4-FFF2-40B4-BE49-F238E27FC236}">
                <a16:creationId xmlns:a16="http://schemas.microsoft.com/office/drawing/2014/main" id="{5B987ADE-A8EB-435A-A6F8-DB10E2E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05475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128" name="models-panel">
            <a:extLst xmlns:a="http://schemas.openxmlformats.org/drawingml/2006/main">
              <a:ext uri="{FF2B5EF4-FFF2-40B4-BE49-F238E27FC236}">
                <a16:creationId xmlns:a16="http://schemas.microsoft.com/office/drawing/2014/main" id="{AF5A8191-E57A-4DC6-806A-78A5F9A9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86450"/>
            <a:ext cx="1047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F2"/>
          </a:solidFill>
          <a:ln xmlns:a="http://schemas.openxmlformats.org/drawingml/2006/main" w="14288">
            <a:solidFill>
              <a:srgbClr val="626262"/>
            </a:solidFill>
            <a:prstDash val="solid"/>
          </a:ln>
        </p:spPr>
      </p:sp>
      <p:sp>
        <p:nvSpPr>
          <p:cNvPr id="129" name="models-title">
            <a:extLst xmlns:a="http://schemas.openxmlformats.org/drawingml/2006/main">
              <a:ext uri="{FF2B5EF4-FFF2-40B4-BE49-F238E27FC236}">
                <a16:creationId xmlns:a16="http://schemas.microsoft.com/office/drawing/2014/main" id="{435736B1-29CE-4CDE-B0E8-D5FFA54A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86475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Five fixed</a:t>
            </a:r>
          </a:p>
          <a:p xmlns:a="http://schemas.openxmlformats.org/drawingml/2006/main">
            <a:pPr algn="l">
              <a:defRPr sz="17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models</a:t>
            </a:r>
          </a:p>
        </p:txBody>
      </p:sp>
      <p:sp>
        <p:nvSpPr>
          <p:cNvPr id="130" name="model-chip-LSTM">
            <a:extLst xmlns:a="http://schemas.openxmlformats.org/drawingml/2006/main">
              <a:ext uri="{FF2B5EF4-FFF2-40B4-BE49-F238E27FC236}">
                <a16:creationId xmlns:a16="http://schemas.microsoft.com/office/drawing/2014/main" id="{D355F037-A0F0-4088-8701-D52F48AA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2293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31" name="model-chip-LSTM-text">
            <a:extLst xmlns:a="http://schemas.openxmlformats.org/drawingml/2006/main">
              <a:ext uri="{FF2B5EF4-FFF2-40B4-BE49-F238E27FC236}">
                <a16:creationId xmlns:a16="http://schemas.microsoft.com/office/drawing/2014/main" id="{651AE186-D3C1-41D1-839A-2F9531B6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276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LSTM</a:t>
            </a:r>
          </a:p>
        </p:txBody>
      </p:sp>
      <p:sp>
        <p:nvSpPr>
          <p:cNvPr id="132" name="model-chip-CNN">
            <a:extLst xmlns:a="http://schemas.openxmlformats.org/drawingml/2006/main">
              <a:ext uri="{FF2B5EF4-FFF2-40B4-BE49-F238E27FC236}">
                <a16:creationId xmlns:a16="http://schemas.microsoft.com/office/drawing/2014/main" id="{B5CDB403-1658-468A-8FAF-B669F833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2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33" name="model-chip-CNN-text">
            <a:extLst xmlns:a="http://schemas.openxmlformats.org/drawingml/2006/main">
              <a:ext uri="{FF2B5EF4-FFF2-40B4-BE49-F238E27FC236}">
                <a16:creationId xmlns:a16="http://schemas.microsoft.com/office/drawing/2014/main" id="{DF2B104C-DD34-45E7-B8CB-F5D74CF8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62769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CNN</a:t>
            </a:r>
          </a:p>
        </p:txBody>
      </p:sp>
      <p:sp>
        <p:nvSpPr>
          <p:cNvPr id="134" name="model-chip-LSTM-CNN">
            <a:extLst xmlns:a="http://schemas.openxmlformats.org/drawingml/2006/main">
              <a:ext uri="{FF2B5EF4-FFF2-40B4-BE49-F238E27FC236}">
                <a16:creationId xmlns:a16="http://schemas.microsoft.com/office/drawing/2014/main" id="{26A73DD7-A18E-4132-AEC3-A010C31D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229350"/>
            <a:ext cx="109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35" name="model-chip-LSTM-CNN-text">
            <a:extLst xmlns:a="http://schemas.openxmlformats.org/drawingml/2006/main">
              <a:ext uri="{FF2B5EF4-FFF2-40B4-BE49-F238E27FC236}">
                <a16:creationId xmlns:a16="http://schemas.microsoft.com/office/drawing/2014/main" id="{DD3536F4-232D-4E25-8213-83A0D8A6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62769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LSTM-CNN</a:t>
            </a:r>
          </a:p>
        </p:txBody>
      </p:sp>
      <p:sp>
        <p:nvSpPr>
          <p:cNvPr id="136" name="model-chip-LSTM-Attention">
            <a:extLst xmlns:a="http://schemas.openxmlformats.org/drawingml/2006/main">
              <a:ext uri="{FF2B5EF4-FFF2-40B4-BE49-F238E27FC236}">
                <a16:creationId xmlns:a16="http://schemas.microsoft.com/office/drawing/2014/main" id="{E87BD1D9-59CE-43A6-9581-0794923B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62293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37" name="model-chip-LSTM-Attention-text">
            <a:extLst xmlns:a="http://schemas.openxmlformats.org/drawingml/2006/main">
              <a:ext uri="{FF2B5EF4-FFF2-40B4-BE49-F238E27FC236}">
                <a16:creationId xmlns:a16="http://schemas.microsoft.com/office/drawing/2014/main" id="{2663EE29-CAB5-429A-B8E2-8A7036B2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27697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LSTM-Attention</a:t>
            </a:r>
          </a:p>
        </p:txBody>
      </p:sp>
      <p:sp>
        <p:nvSpPr>
          <p:cNvPr id="138" name="model-chip-LSTM-CNN-Attention">
            <a:extLst xmlns:a="http://schemas.openxmlformats.org/drawingml/2006/main">
              <a:ext uri="{FF2B5EF4-FFF2-40B4-BE49-F238E27FC236}">
                <a16:creationId xmlns:a16="http://schemas.microsoft.com/office/drawing/2014/main" id="{CAFB172C-141B-4CF4-BC70-C3283427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29350"/>
            <a:ext cx="1838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39" name="model-chip-LSTM-CNN-Attention-text">
            <a:extLst xmlns:a="http://schemas.openxmlformats.org/drawingml/2006/main">
              <a:ext uri="{FF2B5EF4-FFF2-40B4-BE49-F238E27FC236}">
                <a16:creationId xmlns:a16="http://schemas.microsoft.com/office/drawing/2014/main" id="{E39C1D3E-C3B9-4765-85F4-853B6E0A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27697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LSTM-CNN-Attention</a:t>
            </a:r>
          </a:p>
        </p:txBody>
      </p:sp>
      <p:sp>
        <p:nvSpPr>
          <p:cNvPr id="140" name="arrow-models-to-target">
            <a:extLst xmlns:a="http://schemas.openxmlformats.org/drawingml/2006/main">
              <a:ext uri="{FF2B5EF4-FFF2-40B4-BE49-F238E27FC236}">
                <a16:creationId xmlns:a16="http://schemas.microsoft.com/office/drawing/2014/main" id="{A09D0F8A-147A-4552-BF2C-D6241E88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877050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141" name="prediction-target-panel">
            <a:extLst xmlns:a="http://schemas.openxmlformats.org/drawingml/2006/main">
              <a:ext uri="{FF2B5EF4-FFF2-40B4-BE49-F238E27FC236}">
                <a16:creationId xmlns:a16="http://schemas.microsoft.com/office/drawing/2014/main" id="{7DCA5DB2-C03B-430D-B3C8-4D576419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105650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F2"/>
          </a:solidFill>
          <a:ln xmlns:a="http://schemas.openxmlformats.org/drawingml/2006/main" w="19050">
            <a:solidFill>
              <a:srgbClr val="5D7487"/>
            </a:solidFill>
            <a:prstDash val="solid"/>
          </a:ln>
        </p:spPr>
      </p:sp>
      <p:sp>
        <p:nvSpPr>
          <p:cNvPr id="142" name="prediction-target-text">
            <a:extLst xmlns:a="http://schemas.openxmlformats.org/drawingml/2006/main">
              <a:ext uri="{FF2B5EF4-FFF2-40B4-BE49-F238E27FC236}">
                <a16:creationId xmlns:a16="http://schemas.microsoft.com/office/drawing/2014/main" id="{FAC9840F-0E37-46A7-8F78-4E509D9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239000"/>
            <a:ext cx="638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Next-session SET direction  UP / DOWN</a:t>
            </a:r>
          </a:p>
        </p:txBody>
      </p:sp>
      <p:sp>
        <p:nvSpPr>
          <p:cNvPr id="143" name="finding-best-bacc-panel">
            <a:extLst xmlns:a="http://schemas.openxmlformats.org/drawingml/2006/main">
              <a:ext uri="{FF2B5EF4-FFF2-40B4-BE49-F238E27FC236}">
                <a16:creationId xmlns:a16="http://schemas.microsoft.com/office/drawing/2014/main" id="{710D815D-8AE0-44E0-B8DA-98B9209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33450"/>
            <a:ext cx="600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F2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44" name="finding-best-bacc-title">
            <a:extLst xmlns:a="http://schemas.openxmlformats.org/drawingml/2006/main">
              <a:ext uri="{FF2B5EF4-FFF2-40B4-BE49-F238E27FC236}">
                <a16:creationId xmlns:a16="http://schemas.microsoft.com/office/drawing/2014/main" id="{2B940DC0-3E72-4A28-9806-33EC3EB4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11430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Best mean balanced accuracy</a:t>
            </a:r>
          </a:p>
        </p:txBody>
      </p:sp>
      <p:sp>
        <p:nvSpPr>
          <p:cNvPr id="145" name="finding-best-bacc-body">
            <a:extLst xmlns:a="http://schemas.openxmlformats.org/drawingml/2006/main">
              <a:ext uri="{FF2B5EF4-FFF2-40B4-BE49-F238E27FC236}">
                <a16:creationId xmlns:a16="http://schemas.microsoft.com/office/drawing/2014/main" id="{A13FCCAC-F4D0-4662-A9BF-12CF6ED4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1485900"/>
            <a:ext cx="338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LSTM-CNN-Attention; four held-out years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and five seeds.</a:t>
            </a:r>
          </a:p>
        </p:txBody>
      </p:sp>
      <p:sp>
        <p:nvSpPr>
          <p:cNvPr id="146" name="finding-best-bacc-value">
            <a:extLst xmlns:a="http://schemas.openxmlformats.org/drawingml/2006/main">
              <a:ext uri="{FF2B5EF4-FFF2-40B4-BE49-F238E27FC236}">
                <a16:creationId xmlns:a16="http://schemas.microsoft.com/office/drawing/2014/main" id="{885C514D-4818-47BB-A16E-2B5F5D95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25" y="1266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150" b="1" i="0">
                <a:solidFill>
                  <a:srgbClr val="4C956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 i="0">
                <a:solidFill>
                  <a:srgbClr val="4C956C"/>
                </a:solidFill>
                <a:latin typeface="Times New Roman"/>
                <a:ea typeface="Times New Roman"/>
                <a:cs typeface="Times New Roman"/>
              </a:rPr>
              <a:t>53.64%</a:t>
            </a:r>
          </a:p>
        </p:txBody>
      </p:sp>
      <p:sp>
        <p:nvSpPr>
          <p:cNvPr id="147" name="finding-cnn-regime-shap-panel">
            <a:extLst xmlns:a="http://schemas.openxmlformats.org/drawingml/2006/main">
              <a:ext uri="{FF2B5EF4-FFF2-40B4-BE49-F238E27FC236}">
                <a16:creationId xmlns:a16="http://schemas.microsoft.com/office/drawing/2014/main" id="{A48A1B91-783E-4217-A750-7206FDEF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2076450"/>
            <a:ext cx="600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48" name="finding-cnn-regime-shap-title">
            <a:extLst xmlns:a="http://schemas.openxmlformats.org/drawingml/2006/main">
              <a:ext uri="{FF2B5EF4-FFF2-40B4-BE49-F238E27FC236}">
                <a16:creationId xmlns:a16="http://schemas.microsoft.com/office/drawing/2014/main" id="{F70A893F-6C36-4703-91B3-C1A44DE7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22860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CNN with Regime-SHAP</a:t>
            </a:r>
          </a:p>
        </p:txBody>
      </p:sp>
      <p:sp>
        <p:nvSpPr>
          <p:cNvPr id="149" name="finding-cnn-regime-shap-body">
            <a:extLst xmlns:a="http://schemas.openxmlformats.org/drawingml/2006/main">
              <a:ext uri="{FF2B5EF4-FFF2-40B4-BE49-F238E27FC236}">
                <a16:creationId xmlns:a16="http://schemas.microsoft.com/office/drawing/2014/main" id="{A4E6D71C-641C-47A7-BCE8-0F9CD551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2628900"/>
            <a:ext cx="338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Largest selective forecasting gain.</a:t>
            </a:r>
          </a:p>
        </p:txBody>
      </p:sp>
      <p:sp>
        <p:nvSpPr>
          <p:cNvPr id="150" name="finding-cnn-regime-shap-value">
            <a:extLst xmlns:a="http://schemas.openxmlformats.org/drawingml/2006/main">
              <a:ext uri="{FF2B5EF4-FFF2-40B4-BE49-F238E27FC236}">
                <a16:creationId xmlns:a16="http://schemas.microsoft.com/office/drawing/2014/main" id="{F0B1A217-C394-47A2-82DA-546CD795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25" y="2409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150" b="1" i="0">
                <a:solidFill>
                  <a:srgbClr val="4C956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 i="0">
                <a:solidFill>
                  <a:srgbClr val="4C956C"/>
                </a:solidFill>
                <a:latin typeface="Times New Roman"/>
                <a:ea typeface="Times New Roman"/>
                <a:cs typeface="Times New Roman"/>
              </a:rPr>
              <a:t>+1.46 pp</a:t>
            </a:r>
          </a:p>
        </p:txBody>
      </p:sp>
      <p:sp>
        <p:nvSpPr>
          <p:cNvPr id="151" name="finding-leader-sentiment-panel">
            <a:extLst xmlns:a="http://schemas.openxmlformats.org/drawingml/2006/main">
              <a:ext uri="{FF2B5EF4-FFF2-40B4-BE49-F238E27FC236}">
                <a16:creationId xmlns:a16="http://schemas.microsoft.com/office/drawing/2014/main" id="{29AB875B-3D18-42B7-B257-72E23CB4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3219450"/>
            <a:ext cx="600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D7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52" name="finding-leader-sentiment-title">
            <a:extLst xmlns:a="http://schemas.openxmlformats.org/drawingml/2006/main">
              <a:ext uri="{FF2B5EF4-FFF2-40B4-BE49-F238E27FC236}">
                <a16:creationId xmlns:a16="http://schemas.microsoft.com/office/drawing/2014/main" id="{A5E2B82B-FF0B-44DE-B4FA-DA5241DC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34290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Leader sentiment</a:t>
            </a:r>
          </a:p>
        </p:txBody>
      </p:sp>
      <p:sp>
        <p:nvSpPr>
          <p:cNvPr id="153" name="finding-leader-sentiment-body">
            <a:extLst xmlns:a="http://schemas.openxmlformats.org/drawingml/2006/main">
              <a:ext uri="{FF2B5EF4-FFF2-40B4-BE49-F238E27FC236}">
                <a16:creationId xmlns:a16="http://schemas.microsoft.com/office/drawing/2014/main" id="{E20C4CF5-5600-4002-9799-B70E485F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3771900"/>
            <a:ext cx="338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Versus equal-call and near-cost controls;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intrinsic endpoint.</a:t>
            </a:r>
          </a:p>
        </p:txBody>
      </p:sp>
      <p:sp>
        <p:nvSpPr>
          <p:cNvPr id="154" name="finding-leader-sentiment-value">
            <a:extLst xmlns:a="http://schemas.openxmlformats.org/drawingml/2006/main">
              <a:ext uri="{FF2B5EF4-FFF2-40B4-BE49-F238E27FC236}">
                <a16:creationId xmlns:a16="http://schemas.microsoft.com/office/drawing/2014/main" id="{B795A391-5508-4551-BD54-06D8B4AD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25" y="3552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 i="0">
                <a:solidFill>
                  <a:srgbClr val="4C956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4C956C"/>
                </a:solidFill>
                <a:latin typeface="Times New Roman"/>
                <a:ea typeface="Times New Roman"/>
                <a:cs typeface="Times New Roman"/>
              </a:rPr>
              <a:t>+5.93 / +6.00 pp</a:t>
            </a:r>
          </a:p>
        </p:txBody>
      </p:sp>
      <p:sp>
        <p:nvSpPr>
          <p:cNvPr id="155" name="finding-lime-fidelity-panel">
            <a:extLst xmlns:a="http://schemas.openxmlformats.org/drawingml/2006/main">
              <a:ext uri="{FF2B5EF4-FFF2-40B4-BE49-F238E27FC236}">
                <a16:creationId xmlns:a16="http://schemas.microsoft.com/office/drawing/2014/main" id="{4ED857EA-89A9-4FEA-9559-BABBA71B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362450"/>
            <a:ext cx="600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A"/>
          </a:solidFill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56" name="finding-lime-fidelity-title">
            <a:extLst xmlns:a="http://schemas.openxmlformats.org/drawingml/2006/main">
              <a:ext uri="{FF2B5EF4-FFF2-40B4-BE49-F238E27FC236}">
                <a16:creationId xmlns:a16="http://schemas.microsoft.com/office/drawing/2014/main" id="{53CF25DC-1EF7-483A-AF0F-FD776C7A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45720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LIME fidelity stress test</a:t>
            </a:r>
          </a:p>
        </p:txBody>
      </p:sp>
      <p:sp>
        <p:nvSpPr>
          <p:cNvPr id="157" name="finding-lime-fidelity-body">
            <a:extLst xmlns:a="http://schemas.openxmlformats.org/drawingml/2006/main">
              <a:ext uri="{FF2B5EF4-FFF2-40B4-BE49-F238E27FC236}">
                <a16:creationId xmlns:a16="http://schemas.microsoft.com/office/drawing/2014/main" id="{EBD89FFE-D68C-4CFC-A9C4-5D285AEB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4914900"/>
            <a:ext cx="338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Share of repeated explanations classified as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low fidelity.</a:t>
            </a:r>
          </a:p>
        </p:txBody>
      </p:sp>
      <p:sp>
        <p:nvSpPr>
          <p:cNvPr id="158" name="finding-lime-fidelity-value">
            <a:extLst xmlns:a="http://schemas.openxmlformats.org/drawingml/2006/main">
              <a:ext uri="{FF2B5EF4-FFF2-40B4-BE49-F238E27FC236}">
                <a16:creationId xmlns:a16="http://schemas.microsoft.com/office/drawing/2014/main" id="{1A30CE14-B519-413A-A509-BE623E2F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25" y="4695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C65D5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C65D57"/>
                </a:solidFill>
                <a:latin typeface="Times New Roman"/>
                <a:ea typeface="Times New Roman"/>
                <a:cs typeface="Times New Roman"/>
              </a:rPr>
              <a:t>71.83%</a:t>
            </a:r>
          </a:p>
        </p:txBody>
      </p:sp>
      <p:sp>
        <p:nvSpPr>
          <p:cNvPr id="159" name="robustness-panel">
            <a:extLst xmlns:a="http://schemas.openxmlformats.org/drawingml/2006/main">
              <a:ext uri="{FF2B5EF4-FFF2-40B4-BE49-F238E27FC236}">
                <a16:creationId xmlns:a16="http://schemas.microsoft.com/office/drawing/2014/main" id="{C756654F-06C2-4AF8-8BBA-4377F224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5686425"/>
            <a:ext cx="6000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2383">
            <a:solidFill>
              <a:srgbClr val="626262"/>
            </a:solidFill>
            <a:prstDash val="solid"/>
          </a:ln>
        </p:spPr>
      </p:sp>
      <p:sp>
        <p:nvSpPr>
          <p:cNvPr id="160" name="robustness-title">
            <a:extLst xmlns:a="http://schemas.openxmlformats.org/drawingml/2006/main">
              <a:ext uri="{FF2B5EF4-FFF2-40B4-BE49-F238E27FC236}">
                <a16:creationId xmlns:a16="http://schemas.microsoft.com/office/drawing/2014/main" id="{2310DB76-812E-42DD-A83D-B1D7C8BD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58674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Robustness results</a:t>
            </a:r>
          </a:p>
        </p:txBody>
      </p:sp>
      <p:sp>
        <p:nvSpPr>
          <p:cNvPr id="161" name="robustness-body">
            <a:extLst xmlns:a="http://schemas.openxmlformats.org/drawingml/2006/main">
              <a:ext uri="{FF2B5EF4-FFF2-40B4-BE49-F238E27FC236}">
                <a16:creationId xmlns:a16="http://schemas.microsoft.com/office/drawing/2014/main" id="{B5686C88-6955-45E5-8608-C21C5805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6229350"/>
            <a:ext cx="5619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VMD effect: -0.60 to +0.35 percentage points.</a:t>
            </a:r>
          </a:p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Predicted news: no consistent adjusted forecasting gain.</a:t>
            </a:r>
          </a:p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Partial-2026 stress test: one-sided collapse in several objectives.</a:t>
            </a:r>
          </a:p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SET100 transfer: lower mean balanced accuracy for all five models.</a:t>
            </a:r>
          </a:p>
        </p:txBody>
      </p:sp>
      <p:sp>
        <p:nvSpPr>
          <p:cNvPr id="162" name="robustness-divider">
            <a:extLst xmlns:a="http://schemas.openxmlformats.org/drawingml/2006/main">
              <a:ext uri="{FF2B5EF4-FFF2-40B4-BE49-F238E27FC236}">
                <a16:creationId xmlns:a16="http://schemas.microsoft.com/office/drawing/2014/main" id="{7CC0AE1D-BC41-46C3-BA5F-138F0421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727710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26262"/>
            </a:solidFill>
            <a:prstDash val="solid"/>
          </a:ln>
        </p:spPr>
      </p:sp>
      <p:sp>
        <p:nvSpPr>
          <p:cNvPr id="163" name="robustness-conclusion">
            <a:extLst xmlns:a="http://schemas.openxmlformats.org/drawingml/2006/main">
              <a:ext uri="{FF2B5EF4-FFF2-40B4-BE49-F238E27FC236}">
                <a16:creationId xmlns:a16="http://schemas.microsoft.com/office/drawing/2014/main" id="{F609DAFE-3345-4594-AE1A-848794AB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9225" y="73914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3F5F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1" i="0">
                <a:solidFill>
                  <a:srgbClr val="3F5F74"/>
                </a:solidFill>
                <a:latin typeface="Times New Roman"/>
                <a:ea typeface="Times New Roman"/>
                <a:cs typeface="Times New Roman"/>
              </a:rPr>
              <a:t>Observed improvements were architecture- and endpoint-</a:t>
            </a:r>
          </a:p>
          <a:p xmlns:a="http://schemas.openxmlformats.org/drawingml/2006/main">
            <a:pPr algn="l">
              <a:defRPr sz="1538" b="1" i="0">
                <a:solidFill>
                  <a:srgbClr val="3F5F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1" i="0">
                <a:solidFill>
                  <a:srgbClr val="3F5F74"/>
                </a:solidFill>
                <a:latin typeface="Times New Roman"/>
                <a:ea typeface="Times New Roman"/>
                <a:cs typeface="Times New Roman"/>
              </a:rPr>
              <a:t>dependent rather than universal.</a:t>
            </a:r>
          </a:p>
        </p:txBody>
      </p:sp>
      <p:sp>
        <p:nvSpPr>
          <p:cNvPr id="16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8C1CC2D-A9C3-4962-8FFE-84FA790A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515350"/>
            <a:ext cx="2209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26262"/>
            </a:solidFill>
            <a:prstDash val="solid"/>
          </a:ln>
        </p:spPr>
      </p:sp>
      <p:sp>
        <p:nvSpPr>
          <p:cNvPr id="165" name="footer-evidence">
            <a:extLst xmlns:a="http://schemas.openxmlformats.org/drawingml/2006/main">
              <a:ext uri="{FF2B5EF4-FFF2-40B4-BE49-F238E27FC236}">
                <a16:creationId xmlns:a16="http://schemas.microsoft.com/office/drawing/2014/main" id="{01D6875C-81D3-4F0E-BC17-4B9CC5E4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629650"/>
            <a:ext cx="1200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962 held-out sessions   •   four outer test years   •   five fixed seeds   •   paired comparisons   •   Holm-adjusted inference</a:t>
            </a:r>
          </a:p>
        </p:txBody>
      </p:sp>
    </p:spTree>
    <p:extLst>
      <p:ext uri="{BB962C8B-B14F-4D97-AF65-F5344CB8AC3E}">
        <p14:creationId xmlns:p14="http://schemas.microsoft.com/office/powerpoint/2010/main" val="813762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2026-08-20T14:54:37.1420000Z</dcterms:created>
  <dcterms:modified xsi:type="dcterms:W3CDTF">2026-08-20T14:54:37.1420000Z</dcterms:modified>
</coreProperties>
</file>